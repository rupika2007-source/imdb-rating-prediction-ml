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eorgia Bold" charset="1" panose="02040802050405020203"/>
      <p:regular r:id="rId18"/>
    </p:embeddedFont>
    <p:embeddedFont>
      <p:font typeface="Calibri (MS) Bold Italics" charset="1" panose="020F07020304040A0204"/>
      <p:regular r:id="rId19"/>
    </p:embeddedFont>
    <p:embeddedFont>
      <p:font typeface="Calibri (MS) Bold" charset="1" panose="020F0702030404030204"/>
      <p:regular r:id="rId20"/>
    </p:embeddedFont>
    <p:embeddedFont>
      <p:font typeface="Calibri (MS)" charset="1" panose="020F0502020204030204"/>
      <p:regular r:id="rId21"/>
    </p:embeddedFont>
    <p:embeddedFont>
      <p:font typeface="Arial Bold" charset="1" panose="020B0704020202020204"/>
      <p:regular r:id="rId22"/>
    </p:embeddedFont>
    <p:embeddedFont>
      <p:font typeface="Calibri (MS) Italics" charset="1" panose="020F05020202040A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43.png" Type="http://schemas.openxmlformats.org/officeDocument/2006/relationships/image"/><Relationship Id="rId17" Target="../media/image44.svg" Type="http://schemas.openxmlformats.org/officeDocument/2006/relationships/image"/><Relationship Id="rId18" Target="../media/image45.png" Type="http://schemas.openxmlformats.org/officeDocument/2006/relationships/image"/><Relationship Id="rId19" Target="../media/image46.svg" Type="http://schemas.openxmlformats.org/officeDocument/2006/relationships/image"/><Relationship Id="rId2" Target="../media/image3.jpeg" Type="http://schemas.openxmlformats.org/officeDocument/2006/relationships/image"/><Relationship Id="rId20" Target="../media/image47.png" Type="http://schemas.openxmlformats.org/officeDocument/2006/relationships/image"/><Relationship Id="rId21" Target="../media/image48.svg" Type="http://schemas.openxmlformats.org/officeDocument/2006/relationships/image"/><Relationship Id="rId22" Target="../media/image49.png" Type="http://schemas.openxmlformats.org/officeDocument/2006/relationships/image"/><Relationship Id="rId23" Target="../media/image50.svg" Type="http://schemas.openxmlformats.org/officeDocument/2006/relationships/image"/><Relationship Id="rId24" Target="../media/image51.png" Type="http://schemas.openxmlformats.org/officeDocument/2006/relationships/image"/><Relationship Id="rId25" Target="../media/image52.svg" Type="http://schemas.openxmlformats.org/officeDocument/2006/relationships/image"/><Relationship Id="rId26" Target="../media/image53.png" Type="http://schemas.openxmlformats.org/officeDocument/2006/relationships/image"/><Relationship Id="rId27" Target="../media/image54.svg" Type="http://schemas.openxmlformats.org/officeDocument/2006/relationships/image"/><Relationship Id="rId28" Target="../media/image55.png" Type="http://schemas.openxmlformats.org/officeDocument/2006/relationships/image"/><Relationship Id="rId29" Target="../media/image56.svg" Type="http://schemas.openxmlformats.org/officeDocument/2006/relationships/image"/><Relationship Id="rId3" Target="../media/image4.jpeg" Type="http://schemas.openxmlformats.org/officeDocument/2006/relationships/image"/><Relationship Id="rId30" Target="../media/image57.png" Type="http://schemas.openxmlformats.org/officeDocument/2006/relationships/image"/><Relationship Id="rId31" Target="../media/image58.svg" Type="http://schemas.openxmlformats.org/officeDocument/2006/relationships/image"/><Relationship Id="rId32" Target="../media/image59.png" Type="http://schemas.openxmlformats.org/officeDocument/2006/relationships/image"/><Relationship Id="rId33" Target="../media/image60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71.png" Type="http://schemas.openxmlformats.org/officeDocument/2006/relationships/image"/><Relationship Id="rId13" Target="../media/image72.svg" Type="http://schemas.openxmlformats.org/officeDocument/2006/relationships/image"/><Relationship Id="rId14" Target="../media/image73.png" Type="http://schemas.openxmlformats.org/officeDocument/2006/relationships/image"/><Relationship Id="rId15" Target="../media/image74.svg" Type="http://schemas.openxmlformats.org/officeDocument/2006/relationships/image"/><Relationship Id="rId16" Target="../media/image75.sv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svg" Type="http://schemas.openxmlformats.org/officeDocument/2006/relationships/image"/><Relationship Id="rId12" Target="../media/image82.png" Type="http://schemas.openxmlformats.org/officeDocument/2006/relationships/image"/><Relationship Id="rId13" Target="../media/image83.svg" Type="http://schemas.openxmlformats.org/officeDocument/2006/relationships/image"/><Relationship Id="rId14" Target="../media/image84.png" Type="http://schemas.openxmlformats.org/officeDocument/2006/relationships/image"/><Relationship Id="rId15" Target="../media/image85.svg" Type="http://schemas.openxmlformats.org/officeDocument/2006/relationships/image"/><Relationship Id="rId16" Target="../media/image86.png" Type="http://schemas.openxmlformats.org/officeDocument/2006/relationships/image"/><Relationship Id="rId17" Target="../media/image87.svg" Type="http://schemas.openxmlformats.org/officeDocument/2006/relationships/image"/><Relationship Id="rId18" Target="../media/image88.png" Type="http://schemas.openxmlformats.org/officeDocument/2006/relationships/image"/><Relationship Id="rId19" Target="../media/image89.svg" Type="http://schemas.openxmlformats.org/officeDocument/2006/relationships/image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svg" Type="http://schemas.openxmlformats.org/officeDocument/2006/relationships/image"/><Relationship Id="rId12" Target="../media/image98.png" Type="http://schemas.openxmlformats.org/officeDocument/2006/relationships/image"/><Relationship Id="rId13" Target="../media/image99.svg" Type="http://schemas.openxmlformats.org/officeDocument/2006/relationships/image"/><Relationship Id="rId14" Target="../media/image100.png" Type="http://schemas.openxmlformats.org/officeDocument/2006/relationships/image"/><Relationship Id="rId15" Target="../media/image101.svg" Type="http://schemas.openxmlformats.org/officeDocument/2006/relationships/image"/><Relationship Id="rId16" Target="../media/image102.png" Type="http://schemas.openxmlformats.org/officeDocument/2006/relationships/image"/><Relationship Id="rId17" Target="../media/image103.svg" Type="http://schemas.openxmlformats.org/officeDocument/2006/relationships/image"/><Relationship Id="rId18" Target="../media/image104.png" Type="http://schemas.openxmlformats.org/officeDocument/2006/relationships/image"/><Relationship Id="rId19" Target="../media/image105.svg" Type="http://schemas.openxmlformats.org/officeDocument/2006/relationships/image"/><Relationship Id="rId2" Target="../media/image90.png" Type="http://schemas.openxmlformats.org/officeDocument/2006/relationships/image"/><Relationship Id="rId20" Target="../media/image106.png" Type="http://schemas.openxmlformats.org/officeDocument/2006/relationships/image"/><Relationship Id="rId21" Target="../media/image107.svg" Type="http://schemas.openxmlformats.org/officeDocument/2006/relationships/image"/><Relationship Id="rId22" Target="../media/image9.png" Type="http://schemas.openxmlformats.org/officeDocument/2006/relationships/image"/><Relationship Id="rId23" Target="../media/image10.svg" Type="http://schemas.openxmlformats.org/officeDocument/2006/relationships/image"/><Relationship Id="rId3" Target="../media/image91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92.png" Type="http://schemas.openxmlformats.org/officeDocument/2006/relationships/image"/><Relationship Id="rId7" Target="../media/image93.svg" Type="http://schemas.openxmlformats.org/officeDocument/2006/relationships/image"/><Relationship Id="rId8" Target="../media/image94.png" Type="http://schemas.openxmlformats.org/officeDocument/2006/relationships/image"/><Relationship Id="rId9" Target="../media/image9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08.png" Type="http://schemas.openxmlformats.org/officeDocument/2006/relationships/image"/><Relationship Id="rId5" Target="../media/image109.svg" Type="http://schemas.openxmlformats.org/officeDocument/2006/relationships/image"/><Relationship Id="rId6" Target="../media/image110.png" Type="http://schemas.openxmlformats.org/officeDocument/2006/relationships/image"/><Relationship Id="rId7" Target="../media/image111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2.png" Type="http://schemas.openxmlformats.org/officeDocument/2006/relationships/image"/><Relationship Id="rId3" Target="../media/image113.svg" Type="http://schemas.openxmlformats.org/officeDocument/2006/relationships/image"/><Relationship Id="rId4" Target="../media/image114.png" Type="http://schemas.openxmlformats.org/officeDocument/2006/relationships/image"/><Relationship Id="rId5" Target="../media/image1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665416" cy="10312337"/>
          </a:xfrm>
          <a:custGeom>
            <a:avLst/>
            <a:gdLst/>
            <a:ahLst/>
            <a:cxnLst/>
            <a:rect r="r" b="b" t="t" l="l"/>
            <a:pathLst>
              <a:path h="10312337" w="665416">
                <a:moveTo>
                  <a:pt x="0" y="0"/>
                </a:moveTo>
                <a:lnTo>
                  <a:pt x="665417" y="0"/>
                </a:lnTo>
                <a:lnTo>
                  <a:pt x="665417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7280" y="2194560"/>
            <a:ext cx="16642080" cy="2194560"/>
            <a:chOff x="0" y="0"/>
            <a:chExt cx="22189440" cy="2926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894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658" r="0" b="-9765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97280" y="2194560"/>
            <a:ext cx="16642080" cy="2194560"/>
            <a:chOff x="0" y="0"/>
            <a:chExt cx="22189440" cy="2926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94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7761" r="0" b="-9776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89440" cy="2926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D7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IMDb Rating Prediction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4046220"/>
            <a:ext cx="14630400" cy="1097280"/>
            <a:chOff x="0" y="0"/>
            <a:chExt cx="1950720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619" r="0" b="-2096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3996214"/>
            <a:ext cx="14630400" cy="1147286"/>
            <a:chOff x="0" y="0"/>
            <a:chExt cx="19507200" cy="1529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8476" r="0" b="-19847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9507200" cy="1596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 i="true">
                  <a:solidFill>
                    <a:srgbClr val="C9D1D9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Machine Learning Approach to Predict Movie Ratings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97280" y="5085074"/>
            <a:ext cx="9169336" cy="116776"/>
          </a:xfrm>
          <a:custGeom>
            <a:avLst/>
            <a:gdLst/>
            <a:ahLst/>
            <a:cxnLst/>
            <a:rect r="r" b="b" t="t" l="l"/>
            <a:pathLst>
              <a:path h="116776" w="9169336">
                <a:moveTo>
                  <a:pt x="0" y="0"/>
                </a:moveTo>
                <a:lnTo>
                  <a:pt x="9169336" y="0"/>
                </a:lnTo>
                <a:lnTo>
                  <a:pt x="9169336" y="116776"/>
                </a:lnTo>
                <a:lnTo>
                  <a:pt x="0" y="116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43990" y="6838950"/>
            <a:ext cx="3329940" cy="2232660"/>
          </a:xfrm>
          <a:custGeom>
            <a:avLst/>
            <a:gdLst/>
            <a:ahLst/>
            <a:cxnLst/>
            <a:rect r="r" b="b" t="t" l="l"/>
            <a:pathLst>
              <a:path h="2232660" w="3329940">
                <a:moveTo>
                  <a:pt x="0" y="0"/>
                </a:moveTo>
                <a:lnTo>
                  <a:pt x="3329940" y="0"/>
                </a:lnTo>
                <a:lnTo>
                  <a:pt x="3329940" y="2232660"/>
                </a:lnTo>
                <a:lnTo>
                  <a:pt x="0" y="2232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63040" y="6843293"/>
            <a:ext cx="3291840" cy="2228317"/>
            <a:chOff x="0" y="0"/>
            <a:chExt cx="4389120" cy="29710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9120" cy="2971038"/>
            </a:xfrm>
            <a:custGeom>
              <a:avLst/>
              <a:gdLst/>
              <a:ahLst/>
              <a:cxnLst/>
              <a:rect r="r" b="b" t="t" l="l"/>
              <a:pathLst>
                <a:path h="297103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971038"/>
                  </a:lnTo>
                  <a:lnTo>
                    <a:pt x="0" y="2971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912" t="0" r="-36912" b="-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63040" y="6786143"/>
            <a:ext cx="3291840" cy="2285467"/>
            <a:chOff x="0" y="0"/>
            <a:chExt cx="4389120" cy="30472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9120" cy="3047293"/>
            </a:xfrm>
            <a:custGeom>
              <a:avLst/>
              <a:gdLst/>
              <a:ahLst/>
              <a:cxnLst/>
              <a:rect r="r" b="b" t="t" l="l"/>
              <a:pathLst>
                <a:path h="3047293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047293"/>
                  </a:lnTo>
                  <a:lnTo>
                    <a:pt x="0" y="30472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9078" t="0" r="-3907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389120" cy="31234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UPASANA 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SARMAH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467350" y="6838950"/>
            <a:ext cx="3329940" cy="2232660"/>
          </a:xfrm>
          <a:custGeom>
            <a:avLst/>
            <a:gdLst/>
            <a:ahLst/>
            <a:cxnLst/>
            <a:rect r="r" b="b" t="t" l="l"/>
            <a:pathLst>
              <a:path h="2232660" w="3329940">
                <a:moveTo>
                  <a:pt x="0" y="0"/>
                </a:moveTo>
                <a:lnTo>
                  <a:pt x="3329940" y="0"/>
                </a:lnTo>
                <a:lnTo>
                  <a:pt x="3329940" y="2232660"/>
                </a:lnTo>
                <a:lnTo>
                  <a:pt x="0" y="2232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90710" y="6838950"/>
            <a:ext cx="3329940" cy="2232660"/>
          </a:xfrm>
          <a:custGeom>
            <a:avLst/>
            <a:gdLst/>
            <a:ahLst/>
            <a:cxnLst/>
            <a:rect r="r" b="b" t="t" l="l"/>
            <a:pathLst>
              <a:path h="2232660" w="3329940">
                <a:moveTo>
                  <a:pt x="0" y="0"/>
                </a:moveTo>
                <a:lnTo>
                  <a:pt x="3329940" y="0"/>
                </a:lnTo>
                <a:lnTo>
                  <a:pt x="3329940" y="2232660"/>
                </a:lnTo>
                <a:lnTo>
                  <a:pt x="0" y="2232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514070" y="6838950"/>
            <a:ext cx="3329940" cy="2232660"/>
          </a:xfrm>
          <a:custGeom>
            <a:avLst/>
            <a:gdLst/>
            <a:ahLst/>
            <a:cxnLst/>
            <a:rect r="r" b="b" t="t" l="l"/>
            <a:pathLst>
              <a:path h="2232660" w="3329940">
                <a:moveTo>
                  <a:pt x="0" y="0"/>
                </a:moveTo>
                <a:lnTo>
                  <a:pt x="3329940" y="0"/>
                </a:lnTo>
                <a:lnTo>
                  <a:pt x="3329940" y="2232660"/>
                </a:lnTo>
                <a:lnTo>
                  <a:pt x="0" y="22326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5486400" y="6838950"/>
            <a:ext cx="3291840" cy="2232660"/>
            <a:chOff x="0" y="0"/>
            <a:chExt cx="4389120" cy="2976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0" cy="2976880"/>
            </a:xfrm>
            <a:custGeom>
              <a:avLst/>
              <a:gdLst/>
              <a:ahLst/>
              <a:cxnLst/>
              <a:rect r="r" b="b" t="t" l="l"/>
              <a:pathLst>
                <a:path h="29768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976880"/>
                  </a:lnTo>
                  <a:lnTo>
                    <a:pt x="0" y="297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081" t="0" r="-37081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486400" y="6781800"/>
            <a:ext cx="3291840" cy="2289810"/>
            <a:chOff x="0" y="0"/>
            <a:chExt cx="4389120" cy="3053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89120" cy="3053080"/>
            </a:xfrm>
            <a:custGeom>
              <a:avLst/>
              <a:gdLst/>
              <a:ahLst/>
              <a:cxnLst/>
              <a:rect r="r" b="b" t="t" l="l"/>
              <a:pathLst>
                <a:path h="305308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053080"/>
                  </a:lnTo>
                  <a:lnTo>
                    <a:pt x="0" y="3053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9248" t="0" r="-3924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4389120" cy="312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KRISH </a:t>
              </a:r>
            </a:p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09760" y="6843293"/>
            <a:ext cx="3291840" cy="2228317"/>
            <a:chOff x="0" y="0"/>
            <a:chExt cx="4389120" cy="29710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89120" cy="2971038"/>
            </a:xfrm>
            <a:custGeom>
              <a:avLst/>
              <a:gdLst/>
              <a:ahLst/>
              <a:cxnLst/>
              <a:rect r="r" b="b" t="t" l="l"/>
              <a:pathLst>
                <a:path h="297103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971038"/>
                  </a:lnTo>
                  <a:lnTo>
                    <a:pt x="0" y="2971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912" t="0" r="-36912" b="-1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509760" y="6786143"/>
            <a:ext cx="3291840" cy="2285467"/>
            <a:chOff x="0" y="0"/>
            <a:chExt cx="4389120" cy="30472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89120" cy="3047293"/>
            </a:xfrm>
            <a:custGeom>
              <a:avLst/>
              <a:gdLst/>
              <a:ahLst/>
              <a:cxnLst/>
              <a:rect r="r" b="b" t="t" l="l"/>
              <a:pathLst>
                <a:path h="3047293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047293"/>
                  </a:lnTo>
                  <a:lnTo>
                    <a:pt x="0" y="30472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9078" t="0" r="-39078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4389120" cy="31234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SURUCHI SINGH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533120" y="6843293"/>
            <a:ext cx="3291840" cy="2228317"/>
            <a:chOff x="0" y="0"/>
            <a:chExt cx="4389120" cy="297108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89120" cy="2971038"/>
            </a:xfrm>
            <a:custGeom>
              <a:avLst/>
              <a:gdLst/>
              <a:ahLst/>
              <a:cxnLst/>
              <a:rect r="r" b="b" t="t" l="l"/>
              <a:pathLst>
                <a:path h="297103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971038"/>
                  </a:lnTo>
                  <a:lnTo>
                    <a:pt x="0" y="2971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912" t="0" r="-36912" b="-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533120" y="6786143"/>
            <a:ext cx="3291840" cy="2285467"/>
            <a:chOff x="0" y="0"/>
            <a:chExt cx="4389120" cy="304728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0" cy="3047293"/>
            </a:xfrm>
            <a:custGeom>
              <a:avLst/>
              <a:gdLst/>
              <a:ahLst/>
              <a:cxnLst/>
              <a:rect r="r" b="b" t="t" l="l"/>
              <a:pathLst>
                <a:path h="3047293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3047293"/>
                  </a:lnTo>
                  <a:lnTo>
                    <a:pt x="0" y="304729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9078" t="0" r="-3907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4389120" cy="31234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RUPIKA CHALAMALLA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7280" y="5125907"/>
            <a:ext cx="9169403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b="true" sz="3598" i="true">
                <a:solidFill>
                  <a:srgbClr val="CBD5E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Team Members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50056"/>
            <a:ext cx="16459200" cy="1195864"/>
            <a:chOff x="0" y="0"/>
            <a:chExt cx="21945600" cy="1594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94485"/>
            </a:xfrm>
            <a:custGeom>
              <a:avLst/>
              <a:gdLst/>
              <a:ahLst/>
              <a:cxnLst/>
              <a:rect r="r" b="b" t="t" l="l"/>
              <a:pathLst>
                <a:path h="15944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181" r="0" b="-21818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D7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Project Overview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01703" y="1633223"/>
            <a:ext cx="16484537" cy="98488"/>
          </a:xfrm>
          <a:custGeom>
            <a:avLst/>
            <a:gdLst/>
            <a:ahLst/>
            <a:cxnLst/>
            <a:rect r="r" b="b" t="t" l="l"/>
            <a:pathLst>
              <a:path h="98488" w="16484537">
                <a:moveTo>
                  <a:pt x="0" y="0"/>
                </a:moveTo>
                <a:lnTo>
                  <a:pt x="16484537" y="0"/>
                </a:lnTo>
                <a:lnTo>
                  <a:pt x="16484537" y="98489"/>
                </a:lnTo>
                <a:lnTo>
                  <a:pt x="0" y="98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8047" y="2096767"/>
            <a:ext cx="8425244" cy="3396044"/>
          </a:xfrm>
          <a:custGeom>
            <a:avLst/>
            <a:gdLst/>
            <a:ahLst/>
            <a:cxnLst/>
            <a:rect r="r" b="b" t="t" l="l"/>
            <a:pathLst>
              <a:path h="3396044" w="8425244">
                <a:moveTo>
                  <a:pt x="0" y="0"/>
                </a:moveTo>
                <a:lnTo>
                  <a:pt x="8425243" y="0"/>
                </a:lnTo>
                <a:lnTo>
                  <a:pt x="8425243" y="3396043"/>
                </a:lnTo>
                <a:lnTo>
                  <a:pt x="0" y="3396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1703" y="2090423"/>
            <a:ext cx="171640" cy="3408616"/>
          </a:xfrm>
          <a:custGeom>
            <a:avLst/>
            <a:gdLst/>
            <a:ahLst/>
            <a:cxnLst/>
            <a:rect r="r" b="b" t="t" l="l"/>
            <a:pathLst>
              <a:path h="3408616" w="171640">
                <a:moveTo>
                  <a:pt x="0" y="0"/>
                </a:moveTo>
                <a:lnTo>
                  <a:pt x="171641" y="0"/>
                </a:lnTo>
                <a:lnTo>
                  <a:pt x="171641" y="3408617"/>
                </a:lnTo>
                <a:lnTo>
                  <a:pt x="0" y="3408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80160" y="2432304"/>
            <a:ext cx="7680960" cy="822960"/>
            <a:chOff x="0" y="0"/>
            <a:chExt cx="10241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733" r="0" b="-13173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2396585"/>
            <a:ext cx="7680960" cy="858679"/>
            <a:chOff x="0" y="0"/>
            <a:chExt cx="10241280" cy="11449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295" r="0" b="-1242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024128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Objective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0160" y="3291840"/>
            <a:ext cx="7680960" cy="1828800"/>
            <a:chOff x="0" y="0"/>
            <a:chExt cx="10241280" cy="2438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80" r="0" b="-3178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80160" y="3263265"/>
            <a:ext cx="7680960" cy="1857375"/>
            <a:chOff x="0" y="0"/>
            <a:chExt cx="10241280" cy="2476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8" r="0" b="-3057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24128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predict IMDb ratings of movies using numerical &amp; categorical features via regression &amp; ensemble models.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777727" y="2096767"/>
            <a:ext cx="8425243" cy="3396044"/>
          </a:xfrm>
          <a:custGeom>
            <a:avLst/>
            <a:gdLst/>
            <a:ahLst/>
            <a:cxnLst/>
            <a:rect r="r" b="b" t="t" l="l"/>
            <a:pathLst>
              <a:path h="3396044" w="8425243">
                <a:moveTo>
                  <a:pt x="0" y="0"/>
                </a:moveTo>
                <a:lnTo>
                  <a:pt x="8425243" y="0"/>
                </a:lnTo>
                <a:lnTo>
                  <a:pt x="8425243" y="3396043"/>
                </a:lnTo>
                <a:lnTo>
                  <a:pt x="0" y="3396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771383" y="2090423"/>
            <a:ext cx="171640" cy="3408616"/>
          </a:xfrm>
          <a:custGeom>
            <a:avLst/>
            <a:gdLst/>
            <a:ahLst/>
            <a:cxnLst/>
            <a:rect r="r" b="b" t="t" l="l"/>
            <a:pathLst>
              <a:path h="3408616" w="171640">
                <a:moveTo>
                  <a:pt x="0" y="0"/>
                </a:moveTo>
                <a:lnTo>
                  <a:pt x="171641" y="0"/>
                </a:lnTo>
                <a:lnTo>
                  <a:pt x="171641" y="3408617"/>
                </a:lnTo>
                <a:lnTo>
                  <a:pt x="0" y="3408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149840" y="2432304"/>
            <a:ext cx="7680960" cy="822960"/>
            <a:chOff x="0" y="0"/>
            <a:chExt cx="10241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733" r="0" b="-131733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149840" y="2396585"/>
            <a:ext cx="7680960" cy="858679"/>
            <a:chOff x="0" y="0"/>
            <a:chExt cx="10241280" cy="11449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295" r="0" b="-12429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024128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49840" y="3291840"/>
            <a:ext cx="7680960" cy="1828800"/>
            <a:chOff x="0" y="0"/>
            <a:chExt cx="10241280" cy="2438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1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80" r="0" b="-3178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149840" y="3263265"/>
            <a:ext cx="7680960" cy="1857375"/>
            <a:chOff x="0" y="0"/>
            <a:chExt cx="10241280" cy="2476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8" r="0" b="-3057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24128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Merged two IMDb datasets (Top 1,000 and Top 10,000 movies) into 9,861 unique records with 8 features.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08047" y="5845807"/>
            <a:ext cx="8425244" cy="3396044"/>
          </a:xfrm>
          <a:custGeom>
            <a:avLst/>
            <a:gdLst/>
            <a:ahLst/>
            <a:cxnLst/>
            <a:rect r="r" b="b" t="t" l="l"/>
            <a:pathLst>
              <a:path h="3396044" w="8425244">
                <a:moveTo>
                  <a:pt x="0" y="0"/>
                </a:moveTo>
                <a:lnTo>
                  <a:pt x="8425243" y="0"/>
                </a:lnTo>
                <a:lnTo>
                  <a:pt x="8425243" y="3396043"/>
                </a:lnTo>
                <a:lnTo>
                  <a:pt x="0" y="3396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01703" y="5839463"/>
            <a:ext cx="171640" cy="3408616"/>
          </a:xfrm>
          <a:custGeom>
            <a:avLst/>
            <a:gdLst/>
            <a:ahLst/>
            <a:cxnLst/>
            <a:rect r="r" b="b" t="t" l="l"/>
            <a:pathLst>
              <a:path h="3408616" w="171640">
                <a:moveTo>
                  <a:pt x="0" y="0"/>
                </a:moveTo>
                <a:lnTo>
                  <a:pt x="171641" y="0"/>
                </a:lnTo>
                <a:lnTo>
                  <a:pt x="171641" y="3408617"/>
                </a:lnTo>
                <a:lnTo>
                  <a:pt x="0" y="3408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80160" y="6181344"/>
            <a:ext cx="7680960" cy="822960"/>
            <a:chOff x="0" y="0"/>
            <a:chExt cx="10241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733" r="0" b="-131733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0160" y="6145625"/>
            <a:ext cx="7680960" cy="858679"/>
            <a:chOff x="0" y="0"/>
            <a:chExt cx="10241280" cy="114490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295" r="0" b="-1242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1024128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Approach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0160" y="7040880"/>
            <a:ext cx="7680960" cy="1828800"/>
            <a:chOff x="0" y="0"/>
            <a:chExt cx="10241280" cy="2438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80" r="0" b="-3178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80160" y="7012305"/>
            <a:ext cx="7680960" cy="1857375"/>
            <a:chOff x="0" y="0"/>
            <a:chExt cx="10241280" cy="2476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8" r="0" b="-3057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24128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EDA—Preprocessing—Feature Engineering—Model Training—GridSearchCV Tuning—Ensemble Combination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9777727" y="5845807"/>
            <a:ext cx="8425243" cy="3396044"/>
          </a:xfrm>
          <a:custGeom>
            <a:avLst/>
            <a:gdLst/>
            <a:ahLst/>
            <a:cxnLst/>
            <a:rect r="r" b="b" t="t" l="l"/>
            <a:pathLst>
              <a:path h="3396044" w="8425243">
                <a:moveTo>
                  <a:pt x="0" y="0"/>
                </a:moveTo>
                <a:lnTo>
                  <a:pt x="8425243" y="0"/>
                </a:lnTo>
                <a:lnTo>
                  <a:pt x="8425243" y="3396043"/>
                </a:lnTo>
                <a:lnTo>
                  <a:pt x="0" y="3396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771383" y="5839463"/>
            <a:ext cx="171640" cy="3408616"/>
          </a:xfrm>
          <a:custGeom>
            <a:avLst/>
            <a:gdLst/>
            <a:ahLst/>
            <a:cxnLst/>
            <a:rect r="r" b="b" t="t" l="l"/>
            <a:pathLst>
              <a:path h="3408616" w="171640">
                <a:moveTo>
                  <a:pt x="0" y="0"/>
                </a:moveTo>
                <a:lnTo>
                  <a:pt x="171641" y="0"/>
                </a:lnTo>
                <a:lnTo>
                  <a:pt x="171641" y="3408617"/>
                </a:lnTo>
                <a:lnTo>
                  <a:pt x="0" y="34086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0149840" y="6181344"/>
            <a:ext cx="7680960" cy="822960"/>
            <a:chOff x="0" y="0"/>
            <a:chExt cx="1024128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733" r="0" b="-131733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149840" y="6145625"/>
            <a:ext cx="7680960" cy="858679"/>
            <a:chOff x="0" y="0"/>
            <a:chExt cx="10241280" cy="114490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412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295" r="0" b="-1242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1024128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Model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149840" y="7040880"/>
            <a:ext cx="7680960" cy="1828800"/>
            <a:chOff x="0" y="0"/>
            <a:chExt cx="10241280" cy="2438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41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780" r="0" b="-3178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149840" y="7012305"/>
            <a:ext cx="7680960" cy="1857375"/>
            <a:chOff x="0" y="0"/>
            <a:chExt cx="10241280" cy="24765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78" r="0" b="-3057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24128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Tuned gradient boosting emerged as the best model with the highest R² and lowest error metrics.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44329"/>
            <a:ext cx="16459200" cy="1210151"/>
            <a:chOff x="0" y="0"/>
            <a:chExt cx="21945600" cy="16135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613535"/>
            </a:xfrm>
            <a:custGeom>
              <a:avLst/>
              <a:gdLst/>
              <a:ahLst/>
              <a:cxnLst/>
              <a:rect r="r" b="b" t="t" l="l"/>
              <a:pathLst>
                <a:path h="161353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13535"/>
                  </a:lnTo>
                  <a:lnTo>
                    <a:pt x="0" y="16135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014" r="0" b="-2150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D7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 PIPELINE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01703" y="1633223"/>
            <a:ext cx="16484537" cy="98488"/>
          </a:xfrm>
          <a:custGeom>
            <a:avLst/>
            <a:gdLst/>
            <a:ahLst/>
            <a:cxnLst/>
            <a:rect r="r" b="b" t="t" l="l"/>
            <a:pathLst>
              <a:path h="98488" w="16484537">
                <a:moveTo>
                  <a:pt x="0" y="0"/>
                </a:moveTo>
                <a:lnTo>
                  <a:pt x="16484537" y="0"/>
                </a:lnTo>
                <a:lnTo>
                  <a:pt x="16484537" y="98489"/>
                </a:lnTo>
                <a:lnTo>
                  <a:pt x="0" y="98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30503" y="2913383"/>
            <a:ext cx="701993" cy="171640"/>
          </a:xfrm>
          <a:custGeom>
            <a:avLst/>
            <a:gdLst/>
            <a:ahLst/>
            <a:cxnLst/>
            <a:rect r="r" b="b" t="t" l="l"/>
            <a:pathLst>
              <a:path h="171640" w="701993">
                <a:moveTo>
                  <a:pt x="0" y="0"/>
                </a:moveTo>
                <a:lnTo>
                  <a:pt x="701993" y="0"/>
                </a:lnTo>
                <a:lnTo>
                  <a:pt x="701993" y="171641"/>
                </a:lnTo>
                <a:lnTo>
                  <a:pt x="0" y="1716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968496" y="2194560"/>
            <a:ext cx="1645920" cy="1645920"/>
            <a:chOff x="0" y="0"/>
            <a:chExt cx="219456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968496" y="2137410"/>
            <a:ext cx="1645920" cy="1703070"/>
            <a:chOff x="0" y="0"/>
            <a:chExt cx="2194560" cy="2270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" cy="2270760"/>
            </a:xfrm>
            <a:custGeom>
              <a:avLst/>
              <a:gdLst/>
              <a:ahLst/>
              <a:cxnLst/>
              <a:rect r="r" b="b" t="t" l="l"/>
              <a:pathLst>
                <a:path h="22707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270760"/>
                  </a:lnTo>
                  <a:lnTo>
                    <a:pt x="0" y="2270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758" t="0" r="-82758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19456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2194560"/>
            <a:ext cx="1645920" cy="1645920"/>
            <a:chOff x="0" y="0"/>
            <a:chExt cx="219456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2137410"/>
            <a:ext cx="1645920" cy="1703070"/>
            <a:chOff x="0" y="0"/>
            <a:chExt cx="2194560" cy="2270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" cy="2270760"/>
            </a:xfrm>
            <a:custGeom>
              <a:avLst/>
              <a:gdLst/>
              <a:ahLst/>
              <a:cxnLst/>
              <a:rect r="r" b="b" t="t" l="l"/>
              <a:pathLst>
                <a:path h="22707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270760"/>
                  </a:lnTo>
                  <a:lnTo>
                    <a:pt x="0" y="2270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758" t="0" r="-82758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219456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601719" y="2913383"/>
            <a:ext cx="701992" cy="171640"/>
          </a:xfrm>
          <a:custGeom>
            <a:avLst/>
            <a:gdLst/>
            <a:ahLst/>
            <a:cxnLst/>
            <a:rect r="r" b="b" t="t" l="l"/>
            <a:pathLst>
              <a:path h="171640" w="701992">
                <a:moveTo>
                  <a:pt x="0" y="0"/>
                </a:moveTo>
                <a:lnTo>
                  <a:pt x="701993" y="0"/>
                </a:lnTo>
                <a:lnTo>
                  <a:pt x="701993" y="171641"/>
                </a:lnTo>
                <a:lnTo>
                  <a:pt x="0" y="1716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72935" y="2913383"/>
            <a:ext cx="701992" cy="171640"/>
          </a:xfrm>
          <a:custGeom>
            <a:avLst/>
            <a:gdLst/>
            <a:ahLst/>
            <a:cxnLst/>
            <a:rect r="r" b="b" t="t" l="l"/>
            <a:pathLst>
              <a:path h="171640" w="701992">
                <a:moveTo>
                  <a:pt x="0" y="0"/>
                </a:moveTo>
                <a:lnTo>
                  <a:pt x="701993" y="0"/>
                </a:lnTo>
                <a:lnTo>
                  <a:pt x="701993" y="171641"/>
                </a:lnTo>
                <a:lnTo>
                  <a:pt x="0" y="1716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44151" y="2913383"/>
            <a:ext cx="701992" cy="171640"/>
          </a:xfrm>
          <a:custGeom>
            <a:avLst/>
            <a:gdLst/>
            <a:ahLst/>
            <a:cxnLst/>
            <a:rect r="r" b="b" t="t" l="l"/>
            <a:pathLst>
              <a:path h="171640" w="701992">
                <a:moveTo>
                  <a:pt x="0" y="0"/>
                </a:moveTo>
                <a:lnTo>
                  <a:pt x="701993" y="0"/>
                </a:lnTo>
                <a:lnTo>
                  <a:pt x="701993" y="171641"/>
                </a:lnTo>
                <a:lnTo>
                  <a:pt x="0" y="1716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215367" y="2913383"/>
            <a:ext cx="701993" cy="171640"/>
          </a:xfrm>
          <a:custGeom>
            <a:avLst/>
            <a:gdLst/>
            <a:ahLst/>
            <a:cxnLst/>
            <a:rect r="r" b="b" t="t" l="l"/>
            <a:pathLst>
              <a:path h="171640" w="701993">
                <a:moveTo>
                  <a:pt x="0" y="0"/>
                </a:moveTo>
                <a:lnTo>
                  <a:pt x="701993" y="0"/>
                </a:lnTo>
                <a:lnTo>
                  <a:pt x="701993" y="171641"/>
                </a:lnTo>
                <a:lnTo>
                  <a:pt x="0" y="1716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5453360" y="2194560"/>
            <a:ext cx="1645920" cy="1645920"/>
            <a:chOff x="0" y="0"/>
            <a:chExt cx="2194560" cy="2194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453360" y="2137410"/>
            <a:ext cx="1645920" cy="1703070"/>
            <a:chOff x="0" y="0"/>
            <a:chExt cx="2194560" cy="2270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" cy="2270760"/>
            </a:xfrm>
            <a:custGeom>
              <a:avLst/>
              <a:gdLst/>
              <a:ahLst/>
              <a:cxnLst/>
              <a:rect r="r" b="b" t="t" l="l"/>
              <a:pathLst>
                <a:path h="22707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270760"/>
                  </a:lnTo>
                  <a:lnTo>
                    <a:pt x="0" y="2270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758" t="0" r="-8275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219456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84583" y="2181863"/>
            <a:ext cx="1671256" cy="1671257"/>
          </a:xfrm>
          <a:custGeom>
            <a:avLst/>
            <a:gdLst/>
            <a:ahLst/>
            <a:cxnLst/>
            <a:rect r="r" b="b" t="t" l="l"/>
            <a:pathLst>
              <a:path h="1671257" w="1671256">
                <a:moveTo>
                  <a:pt x="0" y="0"/>
                </a:moveTo>
                <a:lnTo>
                  <a:pt x="1671257" y="0"/>
                </a:lnTo>
                <a:lnTo>
                  <a:pt x="167125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955799" y="2181863"/>
            <a:ext cx="1671256" cy="1671257"/>
          </a:xfrm>
          <a:custGeom>
            <a:avLst/>
            <a:gdLst/>
            <a:ahLst/>
            <a:cxnLst/>
            <a:rect r="r" b="b" t="t" l="l"/>
            <a:pathLst>
              <a:path h="1671257" w="1671256">
                <a:moveTo>
                  <a:pt x="0" y="0"/>
                </a:moveTo>
                <a:lnTo>
                  <a:pt x="1671257" y="0"/>
                </a:lnTo>
                <a:lnTo>
                  <a:pt x="167125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827015" y="2181863"/>
            <a:ext cx="1671257" cy="1671257"/>
          </a:xfrm>
          <a:custGeom>
            <a:avLst/>
            <a:gdLst/>
            <a:ahLst/>
            <a:cxnLst/>
            <a:rect r="r" b="b" t="t" l="l"/>
            <a:pathLst>
              <a:path h="1671257" w="1671257">
                <a:moveTo>
                  <a:pt x="0" y="0"/>
                </a:moveTo>
                <a:lnTo>
                  <a:pt x="1671257" y="0"/>
                </a:lnTo>
                <a:lnTo>
                  <a:pt x="167125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698231" y="2181863"/>
            <a:ext cx="1671257" cy="1671257"/>
          </a:xfrm>
          <a:custGeom>
            <a:avLst/>
            <a:gdLst/>
            <a:ahLst/>
            <a:cxnLst/>
            <a:rect r="r" b="b" t="t" l="l"/>
            <a:pathLst>
              <a:path h="1671257" w="1671257">
                <a:moveTo>
                  <a:pt x="0" y="0"/>
                </a:moveTo>
                <a:lnTo>
                  <a:pt x="1671257" y="0"/>
                </a:lnTo>
                <a:lnTo>
                  <a:pt x="167125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569447" y="2181863"/>
            <a:ext cx="1671256" cy="1671257"/>
          </a:xfrm>
          <a:custGeom>
            <a:avLst/>
            <a:gdLst/>
            <a:ahLst/>
            <a:cxnLst/>
            <a:rect r="r" b="b" t="t" l="l"/>
            <a:pathLst>
              <a:path h="1671257" w="1671256">
                <a:moveTo>
                  <a:pt x="0" y="0"/>
                </a:moveTo>
                <a:lnTo>
                  <a:pt x="1671257" y="0"/>
                </a:lnTo>
                <a:lnTo>
                  <a:pt x="167125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440663" y="2181863"/>
            <a:ext cx="1671257" cy="1671257"/>
          </a:xfrm>
          <a:custGeom>
            <a:avLst/>
            <a:gdLst/>
            <a:ahLst/>
            <a:cxnLst/>
            <a:rect r="r" b="b" t="t" l="l"/>
            <a:pathLst>
              <a:path h="1671257" w="1671257">
                <a:moveTo>
                  <a:pt x="0" y="0"/>
                </a:moveTo>
                <a:lnTo>
                  <a:pt x="1671257" y="0"/>
                </a:lnTo>
                <a:lnTo>
                  <a:pt x="167125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084583" y="2181863"/>
            <a:ext cx="1645920" cy="1645920"/>
            <a:chOff x="0" y="0"/>
            <a:chExt cx="219456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84583" y="2124713"/>
            <a:ext cx="1645920" cy="1703070"/>
            <a:chOff x="0" y="0"/>
            <a:chExt cx="2194560" cy="22707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" cy="2270760"/>
            </a:xfrm>
            <a:custGeom>
              <a:avLst/>
              <a:gdLst/>
              <a:ahLst/>
              <a:cxnLst/>
              <a:rect r="r" b="b" t="t" l="l"/>
              <a:pathLst>
                <a:path h="22707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270760"/>
                  </a:lnTo>
                  <a:lnTo>
                    <a:pt x="0" y="2270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758" t="0" r="-82758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219456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955799" y="2176282"/>
            <a:ext cx="1645920" cy="1645920"/>
            <a:chOff x="0" y="0"/>
            <a:chExt cx="2194560" cy="21945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955799" y="2119132"/>
            <a:ext cx="1645920" cy="1703070"/>
            <a:chOff x="0" y="0"/>
            <a:chExt cx="2194560" cy="2270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" cy="2270760"/>
            </a:xfrm>
            <a:custGeom>
              <a:avLst/>
              <a:gdLst/>
              <a:ahLst/>
              <a:cxnLst/>
              <a:rect r="r" b="b" t="t" l="l"/>
              <a:pathLst>
                <a:path h="22707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270760"/>
                  </a:lnTo>
                  <a:lnTo>
                    <a:pt x="0" y="2270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758" t="0" r="-82758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219456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37178" y="2176282"/>
            <a:ext cx="1645920" cy="1676914"/>
            <a:chOff x="0" y="0"/>
            <a:chExt cx="2194560" cy="223588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" cy="2235835"/>
            </a:xfrm>
            <a:custGeom>
              <a:avLst/>
              <a:gdLst/>
              <a:ahLst/>
              <a:cxnLst/>
              <a:rect r="r" b="b" t="t" l="l"/>
              <a:pathLst>
                <a:path h="2235835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235835"/>
                  </a:lnTo>
                  <a:lnTo>
                    <a:pt x="0" y="22358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0810" t="0" r="-80810" b="-2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837178" y="2119132"/>
            <a:ext cx="1645920" cy="1734064"/>
            <a:chOff x="0" y="0"/>
            <a:chExt cx="2194560" cy="231208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" cy="2312080"/>
            </a:xfrm>
            <a:custGeom>
              <a:avLst/>
              <a:gdLst/>
              <a:ahLst/>
              <a:cxnLst/>
              <a:rect r="r" b="b" t="t" l="l"/>
              <a:pathLst>
                <a:path h="2312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312080"/>
                  </a:lnTo>
                  <a:lnTo>
                    <a:pt x="0" y="2312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174" t="0" r="-85174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76200"/>
              <a:ext cx="2194560" cy="2388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67237" y="2176282"/>
            <a:ext cx="1676914" cy="1676914"/>
            <a:chOff x="0" y="0"/>
            <a:chExt cx="2235886" cy="223588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35835" cy="2235835"/>
            </a:xfrm>
            <a:custGeom>
              <a:avLst/>
              <a:gdLst/>
              <a:ahLst/>
              <a:cxnLst/>
              <a:rect r="r" b="b" t="t" l="l"/>
              <a:pathLst>
                <a:path h="2235835" w="2235835">
                  <a:moveTo>
                    <a:pt x="0" y="0"/>
                  </a:moveTo>
                  <a:lnTo>
                    <a:pt x="2235835" y="0"/>
                  </a:lnTo>
                  <a:lnTo>
                    <a:pt x="2235835" y="2235835"/>
                  </a:lnTo>
                  <a:lnTo>
                    <a:pt x="0" y="22358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4" t="0" r="-78396" b="-2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667237" y="2119132"/>
            <a:ext cx="1676914" cy="1734064"/>
            <a:chOff x="0" y="0"/>
            <a:chExt cx="2235886" cy="231208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35885" cy="2312080"/>
            </a:xfrm>
            <a:custGeom>
              <a:avLst/>
              <a:gdLst/>
              <a:ahLst/>
              <a:cxnLst/>
              <a:rect r="r" b="b" t="t" l="l"/>
              <a:pathLst>
                <a:path h="2312080" w="2235885">
                  <a:moveTo>
                    <a:pt x="0" y="0"/>
                  </a:moveTo>
                  <a:lnTo>
                    <a:pt x="2235885" y="0"/>
                  </a:lnTo>
                  <a:lnTo>
                    <a:pt x="2235885" y="2312080"/>
                  </a:lnTo>
                  <a:lnTo>
                    <a:pt x="0" y="2312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676" t="0" r="-82676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2235886" cy="2388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569447" y="2176282"/>
            <a:ext cx="1645920" cy="1645920"/>
            <a:chOff x="0" y="0"/>
            <a:chExt cx="2194560" cy="2194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569447" y="2119132"/>
            <a:ext cx="1645920" cy="1703070"/>
            <a:chOff x="0" y="0"/>
            <a:chExt cx="2194560" cy="22707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" cy="2270760"/>
            </a:xfrm>
            <a:custGeom>
              <a:avLst/>
              <a:gdLst/>
              <a:ahLst/>
              <a:cxnLst/>
              <a:rect r="r" b="b" t="t" l="l"/>
              <a:pathLst>
                <a:path h="22707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270760"/>
                  </a:lnTo>
                  <a:lnTo>
                    <a:pt x="0" y="2270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758" t="0" r="-82758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219456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5440663" y="2176282"/>
            <a:ext cx="1645920" cy="1645920"/>
            <a:chOff x="0" y="0"/>
            <a:chExt cx="2194560" cy="21945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440663" y="2119132"/>
            <a:ext cx="1645920" cy="1703070"/>
            <a:chOff x="0" y="0"/>
            <a:chExt cx="2194560" cy="2270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94560" cy="2270760"/>
            </a:xfrm>
            <a:custGeom>
              <a:avLst/>
              <a:gdLst/>
              <a:ahLst/>
              <a:cxnLst/>
              <a:rect r="r" b="b" t="t" l="l"/>
              <a:pathLst>
                <a:path h="22707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2270760"/>
                  </a:lnTo>
                  <a:lnTo>
                    <a:pt x="0" y="2270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758" t="0" r="-82758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76200"/>
              <a:ext cx="2194560" cy="2346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89362" y="4059936"/>
            <a:ext cx="2743200" cy="694944"/>
            <a:chOff x="0" y="0"/>
            <a:chExt cx="3657600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61" r="0" b="-26861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89362" y="4024217"/>
            <a:ext cx="2743200" cy="730663"/>
            <a:chOff x="0" y="0"/>
            <a:chExt cx="3657600" cy="97421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57600" cy="974217"/>
            </a:xfrm>
            <a:custGeom>
              <a:avLst/>
              <a:gdLst/>
              <a:ahLst/>
              <a:cxnLst/>
              <a:rect r="r" b="b" t="t" l="l"/>
              <a:pathLst>
                <a:path h="974217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54" r="0" b="-2315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365760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Datasets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3505200" y="4059936"/>
            <a:ext cx="2743200" cy="694944"/>
            <a:chOff x="0" y="0"/>
            <a:chExt cx="3657600" cy="926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61" r="0" b="-26861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3505200" y="4024217"/>
            <a:ext cx="2743200" cy="730663"/>
            <a:chOff x="0" y="0"/>
            <a:chExt cx="3657600" cy="97421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974217"/>
            </a:xfrm>
            <a:custGeom>
              <a:avLst/>
              <a:gdLst/>
              <a:ahLst/>
              <a:cxnLst/>
              <a:rect r="r" b="b" t="t" l="l"/>
              <a:pathLst>
                <a:path h="974217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54" r="0" b="-2315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365760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Merge &amp; Dedupe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324600" y="4059936"/>
            <a:ext cx="2743200" cy="694944"/>
            <a:chOff x="0" y="0"/>
            <a:chExt cx="3657600" cy="9265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61" r="0" b="-26861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324600" y="4024217"/>
            <a:ext cx="2743200" cy="730663"/>
            <a:chOff x="0" y="0"/>
            <a:chExt cx="3657600" cy="97421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974217"/>
            </a:xfrm>
            <a:custGeom>
              <a:avLst/>
              <a:gdLst/>
              <a:ahLst/>
              <a:cxnLst/>
              <a:rect r="r" b="b" t="t" l="l"/>
              <a:pathLst>
                <a:path h="974217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54" r="0" b="-2315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365760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 Data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144000" y="4059936"/>
            <a:ext cx="2743200" cy="694944"/>
            <a:chOff x="0" y="0"/>
            <a:chExt cx="3657600" cy="9265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61" r="0" b="-26861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144000" y="4024217"/>
            <a:ext cx="2743200" cy="730663"/>
            <a:chOff x="0" y="0"/>
            <a:chExt cx="3657600" cy="97421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0" cy="974217"/>
            </a:xfrm>
            <a:custGeom>
              <a:avLst/>
              <a:gdLst/>
              <a:ahLst/>
              <a:cxnLst/>
              <a:rect r="r" b="b" t="t" l="l"/>
              <a:pathLst>
                <a:path h="974217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54" r="0" b="-2315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365760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033514" y="4059936"/>
            <a:ext cx="2743200" cy="694944"/>
            <a:chOff x="0" y="0"/>
            <a:chExt cx="3657600" cy="9265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61" r="0" b="-26861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033514" y="4024217"/>
            <a:ext cx="2743200" cy="730663"/>
            <a:chOff x="0" y="0"/>
            <a:chExt cx="3657600" cy="97421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657600" cy="974217"/>
            </a:xfrm>
            <a:custGeom>
              <a:avLst/>
              <a:gdLst/>
              <a:ahLst/>
              <a:cxnLst/>
              <a:rect r="r" b="b" t="t" l="l"/>
              <a:pathLst>
                <a:path h="974217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54" r="0" b="-2315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365760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852914" y="4059936"/>
            <a:ext cx="2743200" cy="694944"/>
            <a:chOff x="0" y="0"/>
            <a:chExt cx="365760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0" cy="926592"/>
            </a:xfrm>
            <a:custGeom>
              <a:avLst/>
              <a:gdLst/>
              <a:ahLst/>
              <a:cxnLst/>
              <a:rect r="r" b="b" t="t" l="l"/>
              <a:pathLst>
                <a:path h="92659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61" r="0" b="-26861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852914" y="4024217"/>
            <a:ext cx="2743200" cy="730663"/>
            <a:chOff x="0" y="0"/>
            <a:chExt cx="3657600" cy="97421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57600" cy="974217"/>
            </a:xfrm>
            <a:custGeom>
              <a:avLst/>
              <a:gdLst/>
              <a:ahLst/>
              <a:cxnLst/>
              <a:rect r="r" b="b" t="t" l="l"/>
              <a:pathLst>
                <a:path h="974217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54" r="0" b="-2315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365760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Ready</a:t>
              </a: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901703" y="6479543"/>
            <a:ext cx="3865816" cy="3225736"/>
          </a:xfrm>
          <a:custGeom>
            <a:avLst/>
            <a:gdLst/>
            <a:ahLst/>
            <a:cxnLst/>
            <a:rect r="r" b="b" t="t" l="l"/>
            <a:pathLst>
              <a:path h="3225736" w="3865816">
                <a:moveTo>
                  <a:pt x="0" y="0"/>
                </a:moveTo>
                <a:lnTo>
                  <a:pt x="3865817" y="0"/>
                </a:lnTo>
                <a:lnTo>
                  <a:pt x="3865817" y="3225737"/>
                </a:lnTo>
                <a:lnTo>
                  <a:pt x="0" y="3225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5107943" y="6479543"/>
            <a:ext cx="3865817" cy="3225736"/>
          </a:xfrm>
          <a:custGeom>
            <a:avLst/>
            <a:gdLst/>
            <a:ahLst/>
            <a:cxnLst/>
            <a:rect r="r" b="b" t="t" l="l"/>
            <a:pathLst>
              <a:path h="3225736" w="3865817">
                <a:moveTo>
                  <a:pt x="0" y="0"/>
                </a:moveTo>
                <a:lnTo>
                  <a:pt x="3865817" y="0"/>
                </a:lnTo>
                <a:lnTo>
                  <a:pt x="3865817" y="3225737"/>
                </a:lnTo>
                <a:lnTo>
                  <a:pt x="0" y="3225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9314183" y="6479543"/>
            <a:ext cx="3865816" cy="3225736"/>
          </a:xfrm>
          <a:custGeom>
            <a:avLst/>
            <a:gdLst/>
            <a:ahLst/>
            <a:cxnLst/>
            <a:rect r="r" b="b" t="t" l="l"/>
            <a:pathLst>
              <a:path h="3225736" w="3865816">
                <a:moveTo>
                  <a:pt x="0" y="0"/>
                </a:moveTo>
                <a:lnTo>
                  <a:pt x="3865817" y="0"/>
                </a:lnTo>
                <a:lnTo>
                  <a:pt x="3865817" y="3225737"/>
                </a:lnTo>
                <a:lnTo>
                  <a:pt x="0" y="3225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13520423" y="6479543"/>
            <a:ext cx="3865816" cy="3225736"/>
          </a:xfrm>
          <a:custGeom>
            <a:avLst/>
            <a:gdLst/>
            <a:ahLst/>
            <a:cxnLst/>
            <a:rect r="r" b="b" t="t" l="l"/>
            <a:pathLst>
              <a:path h="3225736" w="3865816">
                <a:moveTo>
                  <a:pt x="0" y="0"/>
                </a:moveTo>
                <a:lnTo>
                  <a:pt x="3865817" y="0"/>
                </a:lnTo>
                <a:lnTo>
                  <a:pt x="3865817" y="3225737"/>
                </a:lnTo>
                <a:lnTo>
                  <a:pt x="0" y="3225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914400" y="6766560"/>
            <a:ext cx="3840480" cy="1280160"/>
            <a:chOff x="0" y="0"/>
            <a:chExt cx="5120640" cy="17068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14400" y="6709410"/>
            <a:ext cx="3840480" cy="1337310"/>
            <a:chOff x="0" y="0"/>
            <a:chExt cx="5120640" cy="17830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120640" cy="1783080"/>
            </a:xfrm>
            <a:custGeom>
              <a:avLst/>
              <a:gdLst/>
              <a:ahLst/>
              <a:cxnLst/>
              <a:rect r="r" b="b" t="t" l="l"/>
              <a:pathLst>
                <a:path h="17830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83080"/>
                  </a:lnTo>
                  <a:lnTo>
                    <a:pt x="0" y="1783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7" r="0" b="-595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76200"/>
              <a:ext cx="5120640" cy="185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1,000 rows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120640" y="6766560"/>
            <a:ext cx="3840480" cy="1280160"/>
            <a:chOff x="0" y="0"/>
            <a:chExt cx="5120640" cy="17068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5120640" y="6709410"/>
            <a:ext cx="3840480" cy="1337310"/>
            <a:chOff x="0" y="0"/>
            <a:chExt cx="5120640" cy="17830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120640" cy="1783080"/>
            </a:xfrm>
            <a:custGeom>
              <a:avLst/>
              <a:gdLst/>
              <a:ahLst/>
              <a:cxnLst/>
              <a:rect r="r" b="b" t="t" l="l"/>
              <a:pathLst>
                <a:path h="17830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83080"/>
                  </a:lnTo>
                  <a:lnTo>
                    <a:pt x="0" y="1783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7" r="0" b="-595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76200"/>
              <a:ext cx="5120640" cy="185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10,000 rows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326880" y="6766560"/>
            <a:ext cx="3840480" cy="1280160"/>
            <a:chOff x="0" y="0"/>
            <a:chExt cx="5120640" cy="17068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326880" y="6709410"/>
            <a:ext cx="3840480" cy="1337310"/>
            <a:chOff x="0" y="0"/>
            <a:chExt cx="5120640" cy="178308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120640" cy="1783080"/>
            </a:xfrm>
            <a:custGeom>
              <a:avLst/>
              <a:gdLst/>
              <a:ahLst/>
              <a:cxnLst/>
              <a:rect r="r" b="b" t="t" l="l"/>
              <a:pathLst>
                <a:path h="17830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83080"/>
                  </a:lnTo>
                  <a:lnTo>
                    <a:pt x="0" y="1783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7" r="0" b="-595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76200"/>
              <a:ext cx="5120640" cy="185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9,861 rows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533120" y="6766560"/>
            <a:ext cx="3840480" cy="1280160"/>
            <a:chOff x="0" y="0"/>
            <a:chExt cx="5120640" cy="170688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1206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3533120" y="6709410"/>
            <a:ext cx="3840480" cy="1337310"/>
            <a:chOff x="0" y="0"/>
            <a:chExt cx="5120640" cy="17830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120640" cy="1783080"/>
            </a:xfrm>
            <a:custGeom>
              <a:avLst/>
              <a:gdLst/>
              <a:ahLst/>
              <a:cxnLst/>
              <a:rect r="r" b="b" t="t" l="l"/>
              <a:pathLst>
                <a:path h="17830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783080"/>
                  </a:lnTo>
                  <a:lnTo>
                    <a:pt x="0" y="1783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57" r="0" b="-595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76200"/>
              <a:ext cx="5120640" cy="1859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Features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14400" y="8046720"/>
            <a:ext cx="3840480" cy="694944"/>
            <a:chOff x="0" y="0"/>
            <a:chExt cx="5120640" cy="92659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05" r="0" b="-57605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14400" y="8018145"/>
            <a:ext cx="3840480" cy="723519"/>
            <a:chOff x="0" y="0"/>
            <a:chExt cx="5120640" cy="96469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120640" cy="964692"/>
            </a:xfrm>
            <a:custGeom>
              <a:avLst/>
              <a:gdLst/>
              <a:ahLst/>
              <a:cxnLst/>
              <a:rect r="r" b="b" t="t" l="l"/>
              <a:pathLst>
                <a:path h="9646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27" r="0" b="-53427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512064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IMDB Top 1000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5120640" y="8046720"/>
            <a:ext cx="3840480" cy="694944"/>
            <a:chOff x="0" y="0"/>
            <a:chExt cx="5120640" cy="92659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05" r="0" b="-57605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120640" y="8018145"/>
            <a:ext cx="3840480" cy="723519"/>
            <a:chOff x="0" y="0"/>
            <a:chExt cx="5120640" cy="96469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120640" cy="964692"/>
            </a:xfrm>
            <a:custGeom>
              <a:avLst/>
              <a:gdLst/>
              <a:ahLst/>
              <a:cxnLst/>
              <a:rect r="r" b="b" t="t" l="l"/>
              <a:pathLst>
                <a:path h="9646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27" r="0" b="-53427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512064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10K Movies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26880" y="8046720"/>
            <a:ext cx="3840480" cy="694944"/>
            <a:chOff x="0" y="0"/>
            <a:chExt cx="5120640" cy="92659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05" r="0" b="-57605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326880" y="8018145"/>
            <a:ext cx="3840480" cy="723519"/>
            <a:chOff x="0" y="0"/>
            <a:chExt cx="5120640" cy="96469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120640" cy="964692"/>
            </a:xfrm>
            <a:custGeom>
              <a:avLst/>
              <a:gdLst/>
              <a:ahLst/>
              <a:cxnLst/>
              <a:rect r="r" b="b" t="t" l="l"/>
              <a:pathLst>
                <a:path h="9646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27" r="0" b="-53427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512064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 Merge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3533120" y="8046720"/>
            <a:ext cx="3840480" cy="694944"/>
            <a:chOff x="0" y="0"/>
            <a:chExt cx="5120640" cy="92659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05" r="0" b="-57605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3533120" y="8018145"/>
            <a:ext cx="3840480" cy="723519"/>
            <a:chOff x="0" y="0"/>
            <a:chExt cx="5120640" cy="96469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120640" cy="964692"/>
            </a:xfrm>
            <a:custGeom>
              <a:avLst/>
              <a:gdLst/>
              <a:ahLst/>
              <a:cxnLst/>
              <a:rect r="r" b="b" t="t" l="l"/>
              <a:pathLst>
                <a:path h="9646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27" r="0" b="-53427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512064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Features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14400" y="8741664"/>
            <a:ext cx="3840480" cy="640080"/>
            <a:chOff x="0" y="0"/>
            <a:chExt cx="5120640" cy="85344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14400" y="8713089"/>
            <a:ext cx="3840480" cy="668655"/>
            <a:chOff x="0" y="0"/>
            <a:chExt cx="5120640" cy="8915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120640" cy="891540"/>
            </a:xfrm>
            <a:custGeom>
              <a:avLst/>
              <a:gdLst/>
              <a:ahLst/>
              <a:cxnLst/>
              <a:rect r="r" b="b" t="t" l="l"/>
              <a:pathLst>
                <a:path h="8915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14" r="0" b="-6191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51206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Original dataset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5120640" y="8741664"/>
            <a:ext cx="3840480" cy="640080"/>
            <a:chOff x="0" y="0"/>
            <a:chExt cx="5120640" cy="853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5120640" y="8713089"/>
            <a:ext cx="3840480" cy="668655"/>
            <a:chOff x="0" y="0"/>
            <a:chExt cx="5120640" cy="89154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120640" cy="891540"/>
            </a:xfrm>
            <a:custGeom>
              <a:avLst/>
              <a:gdLst/>
              <a:ahLst/>
              <a:cxnLst/>
              <a:rect r="r" b="b" t="t" l="l"/>
              <a:pathLst>
                <a:path h="8915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14" r="0" b="-61914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51206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Extended dataset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326880" y="8741664"/>
            <a:ext cx="3840480" cy="640080"/>
            <a:chOff x="0" y="0"/>
            <a:chExt cx="5120640" cy="85344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326880" y="8713089"/>
            <a:ext cx="3840480" cy="668655"/>
            <a:chOff x="0" y="0"/>
            <a:chExt cx="5120640" cy="89154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120640" cy="891540"/>
            </a:xfrm>
            <a:custGeom>
              <a:avLst/>
              <a:gdLst/>
              <a:ahLst/>
              <a:cxnLst/>
              <a:rect r="r" b="b" t="t" l="l"/>
              <a:pathLst>
                <a:path h="8915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14" r="0" b="-61914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51206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Post-deduplication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3533120" y="8741664"/>
            <a:ext cx="3840480" cy="640080"/>
            <a:chOff x="0" y="0"/>
            <a:chExt cx="5120640" cy="85344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5120640" cy="853440"/>
            </a:xfrm>
            <a:custGeom>
              <a:avLst/>
              <a:gdLst/>
              <a:ahLst/>
              <a:cxnLst/>
              <a:rect r="r" b="b" t="t" l="l"/>
              <a:pathLst>
                <a:path h="8534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533120" y="8713089"/>
            <a:ext cx="3840480" cy="668655"/>
            <a:chOff x="0" y="0"/>
            <a:chExt cx="5120640" cy="8915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120640" cy="891540"/>
            </a:xfrm>
            <a:custGeom>
              <a:avLst/>
              <a:gdLst/>
              <a:ahLst/>
              <a:cxnLst/>
              <a:rect r="r" b="b" t="t" l="l"/>
              <a:pathLst>
                <a:path h="8915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914" r="0" b="-61914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512064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After engineering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50056"/>
            <a:ext cx="16459200" cy="1195864"/>
            <a:chOff x="0" y="0"/>
            <a:chExt cx="21945600" cy="1594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94485"/>
            </a:xfrm>
            <a:custGeom>
              <a:avLst/>
              <a:gdLst/>
              <a:ahLst/>
              <a:cxnLst/>
              <a:rect r="r" b="b" t="t" l="l"/>
              <a:pathLst>
                <a:path h="15944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181" r="0" b="-21818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D7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Dataset Overview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01703" y="1633223"/>
            <a:ext cx="16484537" cy="98488"/>
          </a:xfrm>
          <a:custGeom>
            <a:avLst/>
            <a:gdLst/>
            <a:ahLst/>
            <a:cxnLst/>
            <a:rect r="r" b="b" t="t" l="l"/>
            <a:pathLst>
              <a:path h="98488" w="16484537">
                <a:moveTo>
                  <a:pt x="0" y="0"/>
                </a:moveTo>
                <a:lnTo>
                  <a:pt x="16484537" y="0"/>
                </a:lnTo>
                <a:lnTo>
                  <a:pt x="16484537" y="98489"/>
                </a:lnTo>
                <a:lnTo>
                  <a:pt x="0" y="98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8047" y="2005327"/>
            <a:ext cx="8425244" cy="4036124"/>
          </a:xfrm>
          <a:custGeom>
            <a:avLst/>
            <a:gdLst/>
            <a:ahLst/>
            <a:cxnLst/>
            <a:rect r="r" b="b" t="t" l="l"/>
            <a:pathLst>
              <a:path h="4036124" w="8425244">
                <a:moveTo>
                  <a:pt x="0" y="0"/>
                </a:moveTo>
                <a:lnTo>
                  <a:pt x="8425243" y="0"/>
                </a:lnTo>
                <a:lnTo>
                  <a:pt x="8425243" y="4036123"/>
                </a:lnTo>
                <a:lnTo>
                  <a:pt x="0" y="4036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1703" y="1998983"/>
            <a:ext cx="8437816" cy="1031177"/>
          </a:xfrm>
          <a:custGeom>
            <a:avLst/>
            <a:gdLst/>
            <a:ahLst/>
            <a:cxnLst/>
            <a:rect r="r" b="b" t="t" l="l"/>
            <a:pathLst>
              <a:path h="1031177" w="8437816">
                <a:moveTo>
                  <a:pt x="0" y="0"/>
                </a:moveTo>
                <a:lnTo>
                  <a:pt x="8437817" y="0"/>
                </a:lnTo>
                <a:lnTo>
                  <a:pt x="8437817" y="1031177"/>
                </a:lnTo>
                <a:lnTo>
                  <a:pt x="0" y="10311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88720" y="1968817"/>
            <a:ext cx="7863840" cy="1048702"/>
            <a:chOff x="0" y="0"/>
            <a:chExt cx="10485120" cy="1398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85120" cy="1398270"/>
            </a:xfrm>
            <a:custGeom>
              <a:avLst/>
              <a:gdLst/>
              <a:ahLst/>
              <a:cxnLst/>
              <a:rect r="r" b="b" t="t" l="l"/>
              <a:pathLst>
                <a:path h="139827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98270"/>
                  </a:lnTo>
                  <a:lnTo>
                    <a:pt x="0" y="13982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11" r="0" b="-9611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048512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IMDb Top 1,000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0160" y="3291840"/>
            <a:ext cx="3657600" cy="731520"/>
            <a:chOff x="0" y="0"/>
            <a:chExt cx="487680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8" r="0" b="-4735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80160" y="3234690"/>
            <a:ext cx="3657600" cy="788670"/>
            <a:chOff x="0" y="0"/>
            <a:chExt cx="4876800" cy="1051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76800" cy="1051560"/>
            </a:xfrm>
            <a:custGeom>
              <a:avLst/>
              <a:gdLst/>
              <a:ahLst/>
              <a:cxnLst/>
              <a:rect r="r" b="b" t="t" l="l"/>
              <a:pathLst>
                <a:path h="10515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51560"/>
                  </a:lnTo>
                  <a:lnTo>
                    <a:pt x="0" y="1051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65" r="0" b="-4036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4876800" cy="1127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1,000 rows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937760" y="3291840"/>
            <a:ext cx="4023360" cy="797271"/>
            <a:chOff x="0" y="0"/>
            <a:chExt cx="5364480" cy="10630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64480" cy="1062990"/>
            </a:xfrm>
            <a:custGeom>
              <a:avLst/>
              <a:gdLst/>
              <a:ahLst/>
              <a:cxnLst/>
              <a:rect r="r" b="b" t="t" l="l"/>
              <a:pathLst>
                <a:path h="106299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62990"/>
                  </a:lnTo>
                  <a:lnTo>
                    <a:pt x="0" y="10629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262" r="0" b="-4826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937760" y="3234690"/>
            <a:ext cx="4023360" cy="854421"/>
            <a:chOff x="0" y="0"/>
            <a:chExt cx="5364480" cy="11392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1139229"/>
            </a:xfrm>
            <a:custGeom>
              <a:avLst/>
              <a:gdLst/>
              <a:ahLst/>
              <a:cxnLst/>
              <a:rect r="r" b="b" t="t" l="l"/>
              <a:pathLst>
                <a:path h="1139229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39229"/>
                  </a:lnTo>
                  <a:lnTo>
                    <a:pt x="0" y="11392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52" r="0" b="-417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5364480" cy="12154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 columns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9777727" y="2005327"/>
            <a:ext cx="7961700" cy="4036124"/>
          </a:xfrm>
          <a:custGeom>
            <a:avLst/>
            <a:gdLst/>
            <a:ahLst/>
            <a:cxnLst/>
            <a:rect r="r" b="b" t="t" l="l"/>
            <a:pathLst>
              <a:path h="4036124" w="7961700">
                <a:moveTo>
                  <a:pt x="0" y="0"/>
                </a:moveTo>
                <a:lnTo>
                  <a:pt x="7961700" y="0"/>
                </a:lnTo>
                <a:lnTo>
                  <a:pt x="7961700" y="4036123"/>
                </a:lnTo>
                <a:lnTo>
                  <a:pt x="0" y="40361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771383" y="1998983"/>
            <a:ext cx="7967910" cy="1031177"/>
          </a:xfrm>
          <a:custGeom>
            <a:avLst/>
            <a:gdLst/>
            <a:ahLst/>
            <a:cxnLst/>
            <a:rect r="r" b="b" t="t" l="l"/>
            <a:pathLst>
              <a:path h="1031177" w="7967910">
                <a:moveTo>
                  <a:pt x="0" y="0"/>
                </a:moveTo>
                <a:lnTo>
                  <a:pt x="7967910" y="0"/>
                </a:lnTo>
                <a:lnTo>
                  <a:pt x="7967910" y="1031177"/>
                </a:lnTo>
                <a:lnTo>
                  <a:pt x="0" y="10311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0058400" y="1968817"/>
            <a:ext cx="7863840" cy="1048702"/>
            <a:chOff x="0" y="0"/>
            <a:chExt cx="10485120" cy="13982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85120" cy="1398270"/>
            </a:xfrm>
            <a:custGeom>
              <a:avLst/>
              <a:gdLst/>
              <a:ahLst/>
              <a:cxnLst/>
              <a:rect r="r" b="b" t="t" l="l"/>
              <a:pathLst>
                <a:path h="139827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98270"/>
                  </a:lnTo>
                  <a:lnTo>
                    <a:pt x="0" y="13982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11" r="0" b="-9611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48512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IMDb Top 10,000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149840" y="3291840"/>
            <a:ext cx="3657600" cy="731520"/>
            <a:chOff x="0" y="0"/>
            <a:chExt cx="487680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76800" cy="975360"/>
            </a:xfrm>
            <a:custGeom>
              <a:avLst/>
              <a:gdLst/>
              <a:ahLst/>
              <a:cxnLst/>
              <a:rect r="r" b="b" t="t" l="l"/>
              <a:pathLst>
                <a:path h="9753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8" r="0" b="-4735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149840" y="3234690"/>
            <a:ext cx="3657600" cy="788670"/>
            <a:chOff x="0" y="0"/>
            <a:chExt cx="4876800" cy="1051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0" cy="1051560"/>
            </a:xfrm>
            <a:custGeom>
              <a:avLst/>
              <a:gdLst/>
              <a:ahLst/>
              <a:cxnLst/>
              <a:rect r="r" b="b" t="t" l="l"/>
              <a:pathLst>
                <a:path h="10515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51560"/>
                  </a:lnTo>
                  <a:lnTo>
                    <a:pt x="0" y="1051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65" r="0" b="-4036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4876800" cy="1127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9,999 rows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807440" y="3291840"/>
            <a:ext cx="4023360" cy="731520"/>
            <a:chOff x="0" y="0"/>
            <a:chExt cx="536448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807440" y="3234690"/>
            <a:ext cx="4023360" cy="788670"/>
            <a:chOff x="0" y="0"/>
            <a:chExt cx="5364480" cy="1051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4480" cy="1051560"/>
            </a:xfrm>
            <a:custGeom>
              <a:avLst/>
              <a:gdLst/>
              <a:ahLst/>
              <a:cxnLst/>
              <a:rect r="r" b="b" t="t" l="l"/>
              <a:pathLst>
                <a:path h="10515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51560"/>
                  </a:lnTo>
                  <a:lnTo>
                    <a:pt x="0" y="1051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401" r="0" b="-4940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5364480" cy="1127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columns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901703" y="6296663"/>
            <a:ext cx="16484537" cy="116776"/>
          </a:xfrm>
          <a:custGeom>
            <a:avLst/>
            <a:gdLst/>
            <a:ahLst/>
            <a:cxnLst/>
            <a:rect r="r" b="b" t="t" l="l"/>
            <a:pathLst>
              <a:path h="116776" w="16484537">
                <a:moveTo>
                  <a:pt x="0" y="0"/>
                </a:moveTo>
                <a:lnTo>
                  <a:pt x="16484537" y="0"/>
                </a:lnTo>
                <a:lnTo>
                  <a:pt x="16484537" y="116777"/>
                </a:lnTo>
                <a:lnTo>
                  <a:pt x="0" y="11677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914400" y="6510528"/>
            <a:ext cx="16459200" cy="804672"/>
            <a:chOff x="0" y="0"/>
            <a:chExt cx="21945600" cy="10728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280" r="0" b="-348281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6479096"/>
            <a:ext cx="16459200" cy="836105"/>
            <a:chOff x="0" y="0"/>
            <a:chExt cx="21945600" cy="111480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574" r="0" b="-33357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9456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 Merging &amp; Removing Duplicates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908047" y="7400287"/>
            <a:ext cx="3944684" cy="2207324"/>
          </a:xfrm>
          <a:custGeom>
            <a:avLst/>
            <a:gdLst/>
            <a:ahLst/>
            <a:cxnLst/>
            <a:rect r="r" b="b" t="t" l="l"/>
            <a:pathLst>
              <a:path h="2207324" w="3944684">
                <a:moveTo>
                  <a:pt x="0" y="0"/>
                </a:moveTo>
                <a:lnTo>
                  <a:pt x="3944683" y="0"/>
                </a:lnTo>
                <a:lnTo>
                  <a:pt x="3944683" y="2207323"/>
                </a:lnTo>
                <a:lnTo>
                  <a:pt x="0" y="22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914400" y="7589520"/>
            <a:ext cx="3931920" cy="1005840"/>
            <a:chOff x="0" y="0"/>
            <a:chExt cx="5242560" cy="13411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15" r="0" b="-26116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7532370"/>
            <a:ext cx="3931920" cy="1062990"/>
            <a:chOff x="0" y="0"/>
            <a:chExt cx="5242560" cy="14173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42560" cy="1417320"/>
            </a:xfrm>
            <a:custGeom>
              <a:avLst/>
              <a:gdLst/>
              <a:ahLst/>
              <a:cxnLst/>
              <a:rect r="r" b="b" t="t" l="l"/>
              <a:pathLst>
                <a:path h="14173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73" r="0" b="-2207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524256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9,861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8631936"/>
            <a:ext cx="3931920" cy="640080"/>
            <a:chOff x="0" y="0"/>
            <a:chExt cx="524256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42560" cy="853440"/>
            </a:xfrm>
            <a:custGeom>
              <a:avLst/>
              <a:gdLst/>
              <a:ahLst/>
              <a:cxnLst/>
              <a:rect r="r" b="b" t="t" l="l"/>
              <a:pathLst>
                <a:path h="8534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10" r="0" b="-6961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14400" y="8596217"/>
            <a:ext cx="3931920" cy="675799"/>
            <a:chOff x="0" y="0"/>
            <a:chExt cx="5242560" cy="90106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242560" cy="901065"/>
            </a:xfrm>
            <a:custGeom>
              <a:avLst/>
              <a:gdLst/>
              <a:ahLst/>
              <a:cxnLst/>
              <a:rect r="r" b="b" t="t" l="l"/>
              <a:pathLst>
                <a:path h="901065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5242560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Unique Movies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205727" y="7400287"/>
            <a:ext cx="3944684" cy="2207324"/>
          </a:xfrm>
          <a:custGeom>
            <a:avLst/>
            <a:gdLst/>
            <a:ahLst/>
            <a:cxnLst/>
            <a:rect r="r" b="b" t="t" l="l"/>
            <a:pathLst>
              <a:path h="2207324" w="3944684">
                <a:moveTo>
                  <a:pt x="0" y="0"/>
                </a:moveTo>
                <a:lnTo>
                  <a:pt x="3944683" y="0"/>
                </a:lnTo>
                <a:lnTo>
                  <a:pt x="3944683" y="2207323"/>
                </a:lnTo>
                <a:lnTo>
                  <a:pt x="0" y="22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5212080" y="7589520"/>
            <a:ext cx="3931920" cy="1005840"/>
            <a:chOff x="0" y="0"/>
            <a:chExt cx="524256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15" r="0" b="-26116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212080" y="7532370"/>
            <a:ext cx="3931920" cy="1062990"/>
            <a:chOff x="0" y="0"/>
            <a:chExt cx="5242560" cy="14173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242560" cy="1417320"/>
            </a:xfrm>
            <a:custGeom>
              <a:avLst/>
              <a:gdLst/>
              <a:ahLst/>
              <a:cxnLst/>
              <a:rect r="r" b="b" t="t" l="l"/>
              <a:pathLst>
                <a:path h="14173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73" r="0" b="-2207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524256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212080" y="8631936"/>
            <a:ext cx="3931920" cy="640080"/>
            <a:chOff x="0" y="0"/>
            <a:chExt cx="5242560" cy="853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242560" cy="853440"/>
            </a:xfrm>
            <a:custGeom>
              <a:avLst/>
              <a:gdLst/>
              <a:ahLst/>
              <a:cxnLst/>
              <a:rect r="r" b="b" t="t" l="l"/>
              <a:pathLst>
                <a:path h="8534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10" r="0" b="-69611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5212080" y="8596217"/>
            <a:ext cx="3931920" cy="675799"/>
            <a:chOff x="0" y="0"/>
            <a:chExt cx="5242560" cy="90106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42560" cy="901065"/>
            </a:xfrm>
            <a:custGeom>
              <a:avLst/>
              <a:gdLst/>
              <a:ahLst/>
              <a:cxnLst/>
              <a:rect r="r" b="b" t="t" l="l"/>
              <a:pathLst>
                <a:path h="901065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5242560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Features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9503407" y="7400287"/>
            <a:ext cx="3944684" cy="2207324"/>
          </a:xfrm>
          <a:custGeom>
            <a:avLst/>
            <a:gdLst/>
            <a:ahLst/>
            <a:cxnLst/>
            <a:rect r="r" b="b" t="t" l="l"/>
            <a:pathLst>
              <a:path h="2207324" w="3944684">
                <a:moveTo>
                  <a:pt x="0" y="0"/>
                </a:moveTo>
                <a:lnTo>
                  <a:pt x="3944683" y="0"/>
                </a:lnTo>
                <a:lnTo>
                  <a:pt x="3944683" y="2207323"/>
                </a:lnTo>
                <a:lnTo>
                  <a:pt x="0" y="22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9509760" y="7589520"/>
            <a:ext cx="3931920" cy="1005840"/>
            <a:chOff x="0" y="0"/>
            <a:chExt cx="5242560" cy="13411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15" r="0" b="-26116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509760" y="7532370"/>
            <a:ext cx="3931920" cy="1062990"/>
            <a:chOff x="0" y="0"/>
            <a:chExt cx="5242560" cy="14173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42560" cy="1417320"/>
            </a:xfrm>
            <a:custGeom>
              <a:avLst/>
              <a:gdLst/>
              <a:ahLst/>
              <a:cxnLst/>
              <a:rect r="r" b="b" t="t" l="l"/>
              <a:pathLst>
                <a:path h="14173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73" r="0" b="-2207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76200"/>
              <a:ext cx="524256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509760" y="8631936"/>
            <a:ext cx="3931920" cy="640080"/>
            <a:chOff x="0" y="0"/>
            <a:chExt cx="5242560" cy="8534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242560" cy="853440"/>
            </a:xfrm>
            <a:custGeom>
              <a:avLst/>
              <a:gdLst/>
              <a:ahLst/>
              <a:cxnLst/>
              <a:rect r="r" b="b" t="t" l="l"/>
              <a:pathLst>
                <a:path h="8534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10" r="0" b="-69611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09760" y="8596217"/>
            <a:ext cx="3931920" cy="675799"/>
            <a:chOff x="0" y="0"/>
            <a:chExt cx="5242560" cy="90106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42560" cy="901065"/>
            </a:xfrm>
            <a:custGeom>
              <a:avLst/>
              <a:gdLst/>
              <a:ahLst/>
              <a:cxnLst/>
              <a:rect r="r" b="b" t="t" l="l"/>
              <a:pathLst>
                <a:path h="901065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5242560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Duplicates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13801087" y="7400287"/>
            <a:ext cx="3944684" cy="2207324"/>
          </a:xfrm>
          <a:custGeom>
            <a:avLst/>
            <a:gdLst/>
            <a:ahLst/>
            <a:cxnLst/>
            <a:rect r="r" b="b" t="t" l="l"/>
            <a:pathLst>
              <a:path h="2207324" w="3944684">
                <a:moveTo>
                  <a:pt x="0" y="0"/>
                </a:moveTo>
                <a:lnTo>
                  <a:pt x="3944683" y="0"/>
                </a:lnTo>
                <a:lnTo>
                  <a:pt x="3944683" y="2207323"/>
                </a:lnTo>
                <a:lnTo>
                  <a:pt x="0" y="22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13807440" y="7589520"/>
            <a:ext cx="3931920" cy="1005840"/>
            <a:chOff x="0" y="0"/>
            <a:chExt cx="5242560" cy="13411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2425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15" r="0" b="-26116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3807440" y="7532370"/>
            <a:ext cx="3931920" cy="1062990"/>
            <a:chOff x="0" y="0"/>
            <a:chExt cx="5242560" cy="14173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242560" cy="1417320"/>
            </a:xfrm>
            <a:custGeom>
              <a:avLst/>
              <a:gdLst/>
              <a:ahLst/>
              <a:cxnLst/>
              <a:rect r="r" b="b" t="t" l="l"/>
              <a:pathLst>
                <a:path h="14173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417320"/>
                  </a:lnTo>
                  <a:lnTo>
                    <a:pt x="0" y="1417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73" r="0" b="-2207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5242560" cy="1493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80/20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807440" y="8631936"/>
            <a:ext cx="3931920" cy="640080"/>
            <a:chOff x="0" y="0"/>
            <a:chExt cx="5242560" cy="8534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242560" cy="853440"/>
            </a:xfrm>
            <a:custGeom>
              <a:avLst/>
              <a:gdLst/>
              <a:ahLst/>
              <a:cxnLst/>
              <a:rect r="r" b="b" t="t" l="l"/>
              <a:pathLst>
                <a:path h="8534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610" r="0" b="-69611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3807440" y="8596217"/>
            <a:ext cx="3931920" cy="675799"/>
            <a:chOff x="0" y="0"/>
            <a:chExt cx="5242560" cy="90106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242560" cy="901065"/>
            </a:xfrm>
            <a:custGeom>
              <a:avLst/>
              <a:gdLst/>
              <a:ahLst/>
              <a:cxnLst/>
              <a:rect r="r" b="b" t="t" l="l"/>
              <a:pathLst>
                <a:path h="901065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67" r="0" b="-63367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5242560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9CA3A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Train/Test Split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50056"/>
            <a:ext cx="16459200" cy="1195864"/>
            <a:chOff x="0" y="0"/>
            <a:chExt cx="21945600" cy="1594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94485"/>
            </a:xfrm>
            <a:custGeom>
              <a:avLst/>
              <a:gdLst/>
              <a:ahLst/>
              <a:cxnLst/>
              <a:rect r="r" b="b" t="t" l="l"/>
              <a:pathLst>
                <a:path h="15944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181" r="0" b="-21818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D7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Insights from Exploratory Data Analysis 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01703" y="1633223"/>
            <a:ext cx="16484537" cy="98488"/>
          </a:xfrm>
          <a:custGeom>
            <a:avLst/>
            <a:gdLst/>
            <a:ahLst/>
            <a:cxnLst/>
            <a:rect r="r" b="b" t="t" l="l"/>
            <a:pathLst>
              <a:path h="98488" w="16484537">
                <a:moveTo>
                  <a:pt x="0" y="0"/>
                </a:moveTo>
                <a:lnTo>
                  <a:pt x="16484537" y="0"/>
                </a:lnTo>
                <a:lnTo>
                  <a:pt x="16484537" y="98489"/>
                </a:lnTo>
                <a:lnTo>
                  <a:pt x="0" y="98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8047" y="1913887"/>
            <a:ext cx="8333804" cy="3304604"/>
          </a:xfrm>
          <a:custGeom>
            <a:avLst/>
            <a:gdLst/>
            <a:ahLst/>
            <a:cxnLst/>
            <a:rect r="r" b="b" t="t" l="l"/>
            <a:pathLst>
              <a:path h="3304604" w="8333804">
                <a:moveTo>
                  <a:pt x="0" y="0"/>
                </a:moveTo>
                <a:lnTo>
                  <a:pt x="8333803" y="0"/>
                </a:lnTo>
                <a:lnTo>
                  <a:pt x="8333803" y="3304603"/>
                </a:lnTo>
                <a:lnTo>
                  <a:pt x="0" y="33046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80160" y="2103120"/>
            <a:ext cx="7680960" cy="731520"/>
            <a:chOff x="0" y="0"/>
            <a:chExt cx="1024128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450" r="0" b="-15445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0160" y="2060258"/>
            <a:ext cx="7680960" cy="774382"/>
            <a:chOff x="0" y="0"/>
            <a:chExt cx="10241280" cy="1032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1032510"/>
            </a:xfrm>
            <a:custGeom>
              <a:avLst/>
              <a:gdLst/>
              <a:ahLst/>
              <a:cxnLst/>
              <a:rect r="r" b="b" t="t" l="l"/>
              <a:pathLst>
                <a:path h="103251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268" r="0" b="-1432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241280" cy="10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 Distribution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0160" y="2834640"/>
            <a:ext cx="7680960" cy="708203"/>
            <a:chOff x="0" y="0"/>
            <a:chExt cx="10241280" cy="9442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944245"/>
            </a:xfrm>
            <a:custGeom>
              <a:avLst/>
              <a:gdLst/>
              <a:ahLst/>
              <a:cxnLst/>
              <a:rect r="r" b="b" t="t" l="l"/>
              <a:pathLst>
                <a:path h="94424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44245"/>
                  </a:lnTo>
                  <a:lnTo>
                    <a:pt x="0" y="9442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186" r="0" b="-16118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80160" y="2806065"/>
            <a:ext cx="7680960" cy="736778"/>
            <a:chOff x="0" y="0"/>
            <a:chExt cx="10241280" cy="9823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982365"/>
            </a:xfrm>
            <a:custGeom>
              <a:avLst/>
              <a:gdLst/>
              <a:ahLst/>
              <a:cxnLst/>
              <a:rect r="r" b="b" t="t" l="l"/>
              <a:pathLst>
                <a:path h="98236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82365"/>
                  </a:lnTo>
                  <a:lnTo>
                    <a:pt x="0" y="982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133" r="0" b="-15313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241280" cy="1020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Mean rating: </a:t>
              </a: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6.75  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Std dev: </a:t>
              </a: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0.86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0160" y="3694176"/>
            <a:ext cx="7680960" cy="1371600"/>
            <a:chOff x="0" y="0"/>
            <a:chExt cx="1024128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040" r="0" b="-590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80160" y="3665601"/>
            <a:ext cx="7680960" cy="1400175"/>
            <a:chOff x="0" y="0"/>
            <a:chExt cx="10241280" cy="18669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1866900"/>
            </a:xfrm>
            <a:custGeom>
              <a:avLst/>
              <a:gdLst/>
              <a:ahLst/>
              <a:cxnLst/>
              <a:rect r="r" b="b" t="t" l="l"/>
              <a:pathLst>
                <a:path h="18669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866900"/>
                  </a:lnTo>
                  <a:lnTo>
                    <a:pt x="0" y="1866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889" r="0" b="-568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2412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Ratings range from </a:t>
              </a:r>
              <a:r>
                <a:rPr lang="en-US" b="true" sz="2000" u="sng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4.6 to 9.3.</a:t>
              </a:r>
            </a:p>
            <a:p>
              <a:pPr algn="l">
                <a:lnSpc>
                  <a:spcPts val="2400"/>
                </a:lnSpc>
              </a:pP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Most movies cluster between </a:t>
              </a:r>
              <a:r>
                <a:rPr lang="en-US" b="true" sz="2000" u="sng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6.1 and 7.4 (IQR),</a:t>
              </a:r>
              <a:r>
                <a:rPr lang="en-US" sz="2000">
                  <a:solidFill>
                    <a:srgbClr val="C9D1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showing a roughly normal distribution skewed toward quality titles.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9503407" y="1913887"/>
            <a:ext cx="7876604" cy="3304604"/>
          </a:xfrm>
          <a:custGeom>
            <a:avLst/>
            <a:gdLst/>
            <a:ahLst/>
            <a:cxnLst/>
            <a:rect r="r" b="b" t="t" l="l"/>
            <a:pathLst>
              <a:path h="3304604" w="7876604">
                <a:moveTo>
                  <a:pt x="0" y="0"/>
                </a:moveTo>
                <a:lnTo>
                  <a:pt x="7876603" y="0"/>
                </a:lnTo>
                <a:lnTo>
                  <a:pt x="7876603" y="3304603"/>
                </a:lnTo>
                <a:lnTo>
                  <a:pt x="0" y="33046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875520" y="2103120"/>
            <a:ext cx="7315200" cy="731520"/>
            <a:chOff x="0" y="0"/>
            <a:chExt cx="975360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4" r="0" b="-14471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75520" y="2060258"/>
            <a:ext cx="7315200" cy="774382"/>
            <a:chOff x="0" y="0"/>
            <a:chExt cx="9753600" cy="10325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0" cy="1032510"/>
            </a:xfrm>
            <a:custGeom>
              <a:avLst/>
              <a:gdLst/>
              <a:ahLst/>
              <a:cxnLst/>
              <a:rect r="r" b="b" t="t" l="l"/>
              <a:pathLst>
                <a:path h="103251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65" r="0" b="-13406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753600" cy="10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Feature Correlations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75520" y="2718835"/>
            <a:ext cx="4023360" cy="640080"/>
            <a:chOff x="0" y="0"/>
            <a:chExt cx="536448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392" r="0" b="-72391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875520" y="2690260"/>
            <a:ext cx="4023360" cy="668655"/>
            <a:chOff x="0" y="0"/>
            <a:chExt cx="5364480" cy="8915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64480" cy="891540"/>
            </a:xfrm>
            <a:custGeom>
              <a:avLst/>
              <a:gdLst/>
              <a:ahLst/>
              <a:cxnLst/>
              <a:rect r="r" b="b" t="t" l="l"/>
              <a:pathLst>
                <a:path h="8915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43" r="0" b="-6724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36448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Meta_score - Rating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093440" y="2816466"/>
            <a:ext cx="1097280" cy="394830"/>
            <a:chOff x="0" y="0"/>
            <a:chExt cx="1463040" cy="526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0" cy="526415"/>
            </a:xfrm>
            <a:custGeom>
              <a:avLst/>
              <a:gdLst/>
              <a:ahLst/>
              <a:cxnLst/>
              <a:rect r="r" b="b" t="t" l="l"/>
              <a:pathLst>
                <a:path h="526415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26415"/>
                  </a:lnTo>
                  <a:lnTo>
                    <a:pt x="0" y="5264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13" r="0" b="-4118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093440" y="2787891"/>
            <a:ext cx="1097280" cy="423405"/>
            <a:chOff x="0" y="0"/>
            <a:chExt cx="1463040" cy="564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" cy="564547"/>
            </a:xfrm>
            <a:custGeom>
              <a:avLst/>
              <a:gdLst/>
              <a:ahLst/>
              <a:cxnLst/>
              <a:rect r="r" b="b" t="t" l="l"/>
              <a:pathLst>
                <a:path h="564547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64547"/>
                  </a:lnTo>
                  <a:lnTo>
                    <a:pt x="0" y="5645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6" r="0" b="-4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463040" cy="602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~0.53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3116154" y="2865234"/>
            <a:ext cx="1868805" cy="299656"/>
          </a:xfrm>
          <a:custGeom>
            <a:avLst/>
            <a:gdLst/>
            <a:ahLst/>
            <a:cxnLst/>
            <a:rect r="r" b="b" t="t" l="l"/>
            <a:pathLst>
              <a:path h="299656" w="1868805">
                <a:moveTo>
                  <a:pt x="0" y="0"/>
                </a:moveTo>
                <a:lnTo>
                  <a:pt x="1868805" y="0"/>
                </a:lnTo>
                <a:lnTo>
                  <a:pt x="1868805" y="299657"/>
                </a:lnTo>
                <a:lnTo>
                  <a:pt x="0" y="2996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9865995" y="3109084"/>
            <a:ext cx="4023360" cy="640080"/>
            <a:chOff x="0" y="0"/>
            <a:chExt cx="536448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392" r="0" b="-72391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865995" y="3080509"/>
            <a:ext cx="4023360" cy="668655"/>
            <a:chOff x="0" y="0"/>
            <a:chExt cx="5364480" cy="8915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4480" cy="891540"/>
            </a:xfrm>
            <a:custGeom>
              <a:avLst/>
              <a:gdLst/>
              <a:ahLst/>
              <a:cxnLst/>
              <a:rect r="r" b="b" t="t" l="l"/>
              <a:pathLst>
                <a:path h="8915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43" r="0" b="-6724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36448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Log_Votes - Rating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6093440" y="3249397"/>
            <a:ext cx="1097280" cy="393878"/>
            <a:chOff x="0" y="0"/>
            <a:chExt cx="1463040" cy="5251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" cy="525145"/>
            </a:xfrm>
            <a:custGeom>
              <a:avLst/>
              <a:gdLst/>
              <a:ahLst/>
              <a:cxnLst/>
              <a:rect r="r" b="b" t="t" l="l"/>
              <a:pathLst>
                <a:path h="525145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25145"/>
                  </a:lnTo>
                  <a:lnTo>
                    <a:pt x="0" y="5251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44" r="0" b="-424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6093440" y="3220822"/>
            <a:ext cx="1097280" cy="422453"/>
            <a:chOff x="0" y="0"/>
            <a:chExt cx="1463040" cy="5632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" cy="563265"/>
            </a:xfrm>
            <a:custGeom>
              <a:avLst/>
              <a:gdLst/>
              <a:ahLst/>
              <a:cxnLst/>
              <a:rect r="r" b="b" t="t" l="l"/>
              <a:pathLst>
                <a:path h="563265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63265"/>
                  </a:lnTo>
                  <a:lnTo>
                    <a:pt x="0" y="5632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0" r="0" b="-61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463040" cy="601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~0.29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3147338" y="3279257"/>
            <a:ext cx="903161" cy="299657"/>
          </a:xfrm>
          <a:custGeom>
            <a:avLst/>
            <a:gdLst/>
            <a:ahLst/>
            <a:cxnLst/>
            <a:rect r="r" b="b" t="t" l="l"/>
            <a:pathLst>
              <a:path h="299657" w="903161">
                <a:moveTo>
                  <a:pt x="0" y="0"/>
                </a:moveTo>
                <a:lnTo>
                  <a:pt x="903161" y="0"/>
                </a:lnTo>
                <a:lnTo>
                  <a:pt x="903161" y="299657"/>
                </a:lnTo>
                <a:lnTo>
                  <a:pt x="0" y="2996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865995" y="4379976"/>
            <a:ext cx="4023360" cy="640080"/>
            <a:chOff x="0" y="0"/>
            <a:chExt cx="5364480" cy="853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392" r="0" b="-72391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865995" y="4351401"/>
            <a:ext cx="4023360" cy="668655"/>
            <a:chOff x="0" y="0"/>
            <a:chExt cx="5364480" cy="8915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64480" cy="891540"/>
            </a:xfrm>
            <a:custGeom>
              <a:avLst/>
              <a:gdLst/>
              <a:ahLst/>
              <a:cxnLst/>
              <a:rect r="r" b="b" t="t" l="l"/>
              <a:pathLst>
                <a:path h="8915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43" r="0" b="-6724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36448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Log_Gross -  Rating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112490" y="4502410"/>
            <a:ext cx="1097280" cy="407422"/>
            <a:chOff x="0" y="0"/>
            <a:chExt cx="1463040" cy="54323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63040" cy="543179"/>
            </a:xfrm>
            <a:custGeom>
              <a:avLst/>
              <a:gdLst/>
              <a:ahLst/>
              <a:cxnLst/>
              <a:rect r="r" b="b" t="t" l="l"/>
              <a:pathLst>
                <a:path h="543179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3179"/>
                  </a:lnTo>
                  <a:lnTo>
                    <a:pt x="0" y="5431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0" r="0" b="-245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112490" y="4473835"/>
            <a:ext cx="1097280" cy="435997"/>
            <a:chOff x="0" y="0"/>
            <a:chExt cx="1463040" cy="5813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" cy="581329"/>
            </a:xfrm>
            <a:custGeom>
              <a:avLst/>
              <a:gdLst/>
              <a:ahLst/>
              <a:cxnLst/>
              <a:rect r="r" b="b" t="t" l="l"/>
              <a:pathLst>
                <a:path h="581329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81329"/>
                  </a:lnTo>
                  <a:lnTo>
                    <a:pt x="0" y="5813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0" t="0" r="-98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463040" cy="619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~0.8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13147338" y="4556255"/>
            <a:ext cx="200978" cy="299656"/>
          </a:xfrm>
          <a:custGeom>
            <a:avLst/>
            <a:gdLst/>
            <a:ahLst/>
            <a:cxnLst/>
            <a:rect r="r" b="b" t="t" l="l"/>
            <a:pathLst>
              <a:path h="299656" w="200978">
                <a:moveTo>
                  <a:pt x="0" y="0"/>
                </a:moveTo>
                <a:lnTo>
                  <a:pt x="200978" y="0"/>
                </a:lnTo>
                <a:lnTo>
                  <a:pt x="200978" y="299657"/>
                </a:lnTo>
                <a:lnTo>
                  <a:pt x="0" y="2996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908047" y="5480047"/>
            <a:ext cx="8333804" cy="4310444"/>
          </a:xfrm>
          <a:custGeom>
            <a:avLst/>
            <a:gdLst/>
            <a:ahLst/>
            <a:cxnLst/>
            <a:rect r="r" b="b" t="t" l="l"/>
            <a:pathLst>
              <a:path h="4310444" w="8333804">
                <a:moveTo>
                  <a:pt x="0" y="0"/>
                </a:moveTo>
                <a:lnTo>
                  <a:pt x="8333803" y="0"/>
                </a:lnTo>
                <a:lnTo>
                  <a:pt x="8333803" y="4310443"/>
                </a:lnTo>
                <a:lnTo>
                  <a:pt x="0" y="431044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280160" y="5669280"/>
            <a:ext cx="7680960" cy="731520"/>
            <a:chOff x="0" y="0"/>
            <a:chExt cx="10241280" cy="975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450" r="0" b="-15445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80160" y="5626418"/>
            <a:ext cx="7680960" cy="774382"/>
            <a:chOff x="0" y="0"/>
            <a:chExt cx="10241280" cy="103251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41280" cy="1032510"/>
            </a:xfrm>
            <a:custGeom>
              <a:avLst/>
              <a:gdLst/>
              <a:ahLst/>
              <a:cxnLst/>
              <a:rect r="r" b="b" t="t" l="l"/>
              <a:pathLst>
                <a:path h="103251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268" r="0" b="-14326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10241280" cy="10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Rating by Genre (Top 5)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80160" y="6583680"/>
            <a:ext cx="3291840" cy="512064"/>
            <a:chOff x="0" y="0"/>
            <a:chExt cx="4389120" cy="68275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172" r="0" b="-75174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80160" y="6555105"/>
            <a:ext cx="3291840" cy="540639"/>
            <a:chOff x="0" y="0"/>
            <a:chExt cx="4389120" cy="7208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9120" cy="720852"/>
            </a:xfrm>
            <a:custGeom>
              <a:avLst/>
              <a:gdLst/>
              <a:ahLst/>
              <a:cxnLst/>
              <a:rect r="r" b="b" t="t" l="l"/>
              <a:pathLst>
                <a:path h="7208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40" r="0" b="-6864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38912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Western</a:t>
              </a: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4742183" y="6644135"/>
            <a:ext cx="2658808" cy="354520"/>
          </a:xfrm>
          <a:custGeom>
            <a:avLst/>
            <a:gdLst/>
            <a:ahLst/>
            <a:cxnLst/>
            <a:rect r="r" b="b" t="t" l="l"/>
            <a:pathLst>
              <a:path h="354520" w="2658808">
                <a:moveTo>
                  <a:pt x="0" y="0"/>
                </a:moveTo>
                <a:lnTo>
                  <a:pt x="2658809" y="0"/>
                </a:lnTo>
                <a:lnTo>
                  <a:pt x="2658809" y="354521"/>
                </a:lnTo>
                <a:lnTo>
                  <a:pt x="0" y="35452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8138160" y="6583680"/>
            <a:ext cx="914400" cy="512064"/>
            <a:chOff x="0" y="0"/>
            <a:chExt cx="1219200" cy="682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19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900" t="0" r="-2190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138160" y="6555105"/>
            <a:ext cx="914400" cy="540639"/>
            <a:chOff x="0" y="0"/>
            <a:chExt cx="1219200" cy="7208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19200" cy="720852"/>
            </a:xfrm>
            <a:custGeom>
              <a:avLst/>
              <a:gdLst/>
              <a:ahLst/>
              <a:cxnLst/>
              <a:rect r="r" b="b" t="t" l="l"/>
              <a:pathLst>
                <a:path h="7208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859" t="0" r="-25859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21920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7.70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80160" y="7187184"/>
            <a:ext cx="3291840" cy="512064"/>
            <a:chOff x="0" y="0"/>
            <a:chExt cx="438912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172" r="0" b="-75174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80160" y="7158609"/>
            <a:ext cx="3291840" cy="540639"/>
            <a:chOff x="0" y="0"/>
            <a:chExt cx="4389120" cy="7208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89120" cy="720852"/>
            </a:xfrm>
            <a:custGeom>
              <a:avLst/>
              <a:gdLst/>
              <a:ahLst/>
              <a:cxnLst/>
              <a:rect r="r" b="b" t="t" l="l"/>
              <a:pathLst>
                <a:path h="7208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40" r="0" b="-6864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438912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Film-Noir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4742183" y="7247639"/>
            <a:ext cx="2241804" cy="354520"/>
          </a:xfrm>
          <a:custGeom>
            <a:avLst/>
            <a:gdLst/>
            <a:ahLst/>
            <a:cxnLst/>
            <a:rect r="r" b="b" t="t" l="l"/>
            <a:pathLst>
              <a:path h="354520" w="2241804">
                <a:moveTo>
                  <a:pt x="0" y="0"/>
                </a:moveTo>
                <a:lnTo>
                  <a:pt x="2241804" y="0"/>
                </a:lnTo>
                <a:lnTo>
                  <a:pt x="2241804" y="354521"/>
                </a:lnTo>
                <a:lnTo>
                  <a:pt x="0" y="35452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8138160" y="7187184"/>
            <a:ext cx="914400" cy="512064"/>
            <a:chOff x="0" y="0"/>
            <a:chExt cx="121920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19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900" t="0" r="-2190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138160" y="7158609"/>
            <a:ext cx="914400" cy="540639"/>
            <a:chOff x="0" y="0"/>
            <a:chExt cx="1219200" cy="72085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19200" cy="720852"/>
            </a:xfrm>
            <a:custGeom>
              <a:avLst/>
              <a:gdLst/>
              <a:ahLst/>
              <a:cxnLst/>
              <a:rect r="r" b="b" t="t" l="l"/>
              <a:pathLst>
                <a:path h="7208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859" t="0" r="-25859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21920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7.51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80160" y="7790688"/>
            <a:ext cx="3291840" cy="512064"/>
            <a:chOff x="0" y="0"/>
            <a:chExt cx="4389120" cy="6827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172" r="0" b="-75174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80160" y="7762113"/>
            <a:ext cx="3291840" cy="540639"/>
            <a:chOff x="0" y="0"/>
            <a:chExt cx="4389120" cy="7208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389120" cy="720852"/>
            </a:xfrm>
            <a:custGeom>
              <a:avLst/>
              <a:gdLst/>
              <a:ahLst/>
              <a:cxnLst/>
              <a:rect r="r" b="b" t="t" l="l"/>
              <a:pathLst>
                <a:path h="7208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40" r="0" b="-6864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38912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Musical</a:t>
              </a: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0">
            <a:off x="4742183" y="7851143"/>
            <a:ext cx="1671257" cy="354520"/>
          </a:xfrm>
          <a:custGeom>
            <a:avLst/>
            <a:gdLst/>
            <a:ahLst/>
            <a:cxnLst/>
            <a:rect r="r" b="b" t="t" l="l"/>
            <a:pathLst>
              <a:path h="354520" w="1671257">
                <a:moveTo>
                  <a:pt x="0" y="0"/>
                </a:moveTo>
                <a:lnTo>
                  <a:pt x="1671257" y="0"/>
                </a:lnTo>
                <a:lnTo>
                  <a:pt x="1671257" y="354521"/>
                </a:lnTo>
                <a:lnTo>
                  <a:pt x="0" y="35452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8138160" y="7790688"/>
            <a:ext cx="914400" cy="512064"/>
            <a:chOff x="0" y="0"/>
            <a:chExt cx="1219200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219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900" t="0" r="-21900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138160" y="7762113"/>
            <a:ext cx="914400" cy="540639"/>
            <a:chOff x="0" y="0"/>
            <a:chExt cx="1219200" cy="7208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19200" cy="720852"/>
            </a:xfrm>
            <a:custGeom>
              <a:avLst/>
              <a:gdLst/>
              <a:ahLst/>
              <a:cxnLst/>
              <a:rect r="r" b="b" t="t" l="l"/>
              <a:pathLst>
                <a:path h="7208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859" t="0" r="-25859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21920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7.25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80160" y="8394192"/>
            <a:ext cx="3291840" cy="512064"/>
            <a:chOff x="0" y="0"/>
            <a:chExt cx="4389120" cy="6827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172" r="0" b="-75174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280160" y="8365617"/>
            <a:ext cx="3291840" cy="540639"/>
            <a:chOff x="0" y="0"/>
            <a:chExt cx="4389120" cy="7208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89120" cy="720852"/>
            </a:xfrm>
            <a:custGeom>
              <a:avLst/>
              <a:gdLst/>
              <a:ahLst/>
              <a:cxnLst/>
              <a:rect r="r" b="b" t="t" l="l"/>
              <a:pathLst>
                <a:path h="7208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40" r="0" b="-6864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38912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Biography</a:t>
              </a:r>
            </a:p>
          </p:txBody>
        </p:sp>
      </p:grpSp>
      <p:sp>
        <p:nvSpPr>
          <p:cNvPr name="Freeform 107" id="107"/>
          <p:cNvSpPr/>
          <p:nvPr/>
        </p:nvSpPr>
        <p:spPr>
          <a:xfrm flipH="false" flipV="false" rot="0">
            <a:off x="4742183" y="8454647"/>
            <a:ext cx="1385983" cy="354520"/>
          </a:xfrm>
          <a:custGeom>
            <a:avLst/>
            <a:gdLst/>
            <a:ahLst/>
            <a:cxnLst/>
            <a:rect r="r" b="b" t="t" l="l"/>
            <a:pathLst>
              <a:path h="354520" w="1385983">
                <a:moveTo>
                  <a:pt x="0" y="0"/>
                </a:moveTo>
                <a:lnTo>
                  <a:pt x="1385983" y="0"/>
                </a:lnTo>
                <a:lnTo>
                  <a:pt x="1385983" y="354521"/>
                </a:lnTo>
                <a:lnTo>
                  <a:pt x="0" y="35452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8" id="108"/>
          <p:cNvGrpSpPr/>
          <p:nvPr/>
        </p:nvGrpSpPr>
        <p:grpSpPr>
          <a:xfrm rot="0">
            <a:off x="8138160" y="8394192"/>
            <a:ext cx="914400" cy="512064"/>
            <a:chOff x="0" y="0"/>
            <a:chExt cx="1219200" cy="68275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219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900" t="0" r="-21900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8138160" y="8365617"/>
            <a:ext cx="914400" cy="540639"/>
            <a:chOff x="0" y="0"/>
            <a:chExt cx="1219200" cy="7208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219200" cy="720852"/>
            </a:xfrm>
            <a:custGeom>
              <a:avLst/>
              <a:gdLst/>
              <a:ahLst/>
              <a:cxnLst/>
              <a:rect r="r" b="b" t="t" l="l"/>
              <a:pathLst>
                <a:path h="7208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859" t="0" r="-25859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21920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7.12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80160" y="8997696"/>
            <a:ext cx="3291840" cy="512064"/>
            <a:chOff x="0" y="0"/>
            <a:chExt cx="4389120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172" r="0" b="-75174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280160" y="8969121"/>
            <a:ext cx="3291840" cy="540639"/>
            <a:chOff x="0" y="0"/>
            <a:chExt cx="4389120" cy="72085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389120" cy="720852"/>
            </a:xfrm>
            <a:custGeom>
              <a:avLst/>
              <a:gdLst/>
              <a:ahLst/>
              <a:cxnLst/>
              <a:rect r="r" b="b" t="t" l="l"/>
              <a:pathLst>
                <a:path h="72085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40" r="0" b="-6864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438912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Music</a:t>
              </a:r>
            </a:p>
          </p:txBody>
        </p:sp>
      </p:grpSp>
      <p:sp>
        <p:nvSpPr>
          <p:cNvPr name="Freeform 118" id="118"/>
          <p:cNvSpPr/>
          <p:nvPr/>
        </p:nvSpPr>
        <p:spPr>
          <a:xfrm flipH="false" flipV="false" rot="0">
            <a:off x="4742183" y="9058151"/>
            <a:ext cx="1342073" cy="354520"/>
          </a:xfrm>
          <a:custGeom>
            <a:avLst/>
            <a:gdLst/>
            <a:ahLst/>
            <a:cxnLst/>
            <a:rect r="r" b="b" t="t" l="l"/>
            <a:pathLst>
              <a:path h="354520" w="1342073">
                <a:moveTo>
                  <a:pt x="0" y="0"/>
                </a:moveTo>
                <a:lnTo>
                  <a:pt x="1342073" y="0"/>
                </a:lnTo>
                <a:lnTo>
                  <a:pt x="1342073" y="354521"/>
                </a:lnTo>
                <a:lnTo>
                  <a:pt x="0" y="354521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9" id="119"/>
          <p:cNvGrpSpPr/>
          <p:nvPr/>
        </p:nvGrpSpPr>
        <p:grpSpPr>
          <a:xfrm rot="0">
            <a:off x="8138160" y="8997696"/>
            <a:ext cx="914400" cy="512064"/>
            <a:chOff x="0" y="0"/>
            <a:chExt cx="1219200" cy="6827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2192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900" t="0" r="-21900" b="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8138160" y="8969121"/>
            <a:ext cx="914400" cy="540639"/>
            <a:chOff x="0" y="0"/>
            <a:chExt cx="1219200" cy="7208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219200" cy="720852"/>
            </a:xfrm>
            <a:custGeom>
              <a:avLst/>
              <a:gdLst/>
              <a:ahLst/>
              <a:cxnLst/>
              <a:rect r="r" b="b" t="t" l="l"/>
              <a:pathLst>
                <a:path h="720852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859" t="0" r="-25859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121920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7.10</a:t>
              </a:r>
            </a:p>
          </p:txBody>
        </p:sp>
      </p:grpSp>
      <p:sp>
        <p:nvSpPr>
          <p:cNvPr name="Freeform 124" id="124"/>
          <p:cNvSpPr/>
          <p:nvPr/>
        </p:nvSpPr>
        <p:spPr>
          <a:xfrm flipH="false" flipV="false" rot="0">
            <a:off x="9503407" y="5480047"/>
            <a:ext cx="7876604" cy="4310444"/>
          </a:xfrm>
          <a:custGeom>
            <a:avLst/>
            <a:gdLst/>
            <a:ahLst/>
            <a:cxnLst/>
            <a:rect r="r" b="b" t="t" l="l"/>
            <a:pathLst>
              <a:path h="4310444" w="7876604">
                <a:moveTo>
                  <a:pt x="0" y="0"/>
                </a:moveTo>
                <a:lnTo>
                  <a:pt x="7876603" y="0"/>
                </a:lnTo>
                <a:lnTo>
                  <a:pt x="7876603" y="4310443"/>
                </a:lnTo>
                <a:lnTo>
                  <a:pt x="0" y="431044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5" id="125"/>
          <p:cNvGrpSpPr/>
          <p:nvPr/>
        </p:nvGrpSpPr>
        <p:grpSpPr>
          <a:xfrm rot="0">
            <a:off x="9875520" y="5669280"/>
            <a:ext cx="7315200" cy="731520"/>
            <a:chOff x="0" y="0"/>
            <a:chExt cx="9753600" cy="9753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75360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714" r="0" b="-144714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875520" y="5626418"/>
            <a:ext cx="7315200" cy="774382"/>
            <a:chOff x="0" y="0"/>
            <a:chExt cx="9753600" cy="103251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753600" cy="1032510"/>
            </a:xfrm>
            <a:custGeom>
              <a:avLst/>
              <a:gdLst/>
              <a:ahLst/>
              <a:cxnLst/>
              <a:rect r="r" b="b" t="t" l="l"/>
              <a:pathLst>
                <a:path h="103251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65" r="0" b="-134065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57150"/>
              <a:ext cx="9753600" cy="10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Votes &amp; Runtime Stats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875520" y="6492240"/>
            <a:ext cx="4206240" cy="548640"/>
            <a:chOff x="0" y="0"/>
            <a:chExt cx="5608320" cy="73152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1" r="0" b="-99281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875520" y="6463665"/>
            <a:ext cx="4206240" cy="577215"/>
            <a:chOff x="0" y="0"/>
            <a:chExt cx="5608320" cy="76962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608320" cy="769620"/>
            </a:xfrm>
            <a:custGeom>
              <a:avLst/>
              <a:gdLst/>
              <a:ahLst/>
              <a:cxnLst/>
              <a:rect r="r" b="b" t="t" l="l"/>
              <a:pathLst>
                <a:path h="7696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89" r="0" b="-91989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560832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runtime: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4173200" y="6492240"/>
            <a:ext cx="2926080" cy="548640"/>
            <a:chOff x="0" y="0"/>
            <a:chExt cx="3901440" cy="73152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847" r="0" b="-53848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4173200" y="6463665"/>
            <a:ext cx="2926080" cy="577215"/>
            <a:chOff x="0" y="0"/>
            <a:chExt cx="3901440" cy="76962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901440" cy="769620"/>
            </a:xfrm>
            <a:custGeom>
              <a:avLst/>
              <a:gdLst/>
              <a:ahLst/>
              <a:cxnLst/>
              <a:rect r="r" b="b" t="t" l="l"/>
              <a:pathLst>
                <a:path h="7696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75" r="0" b="-48775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390144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111 min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875520" y="7132320"/>
            <a:ext cx="4206240" cy="548640"/>
            <a:chOff x="0" y="0"/>
            <a:chExt cx="5608320" cy="73152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1" r="0" b="-99281"/>
              </a:stretch>
            </a:blip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875520" y="7103745"/>
            <a:ext cx="4206240" cy="577215"/>
            <a:chOff x="0" y="0"/>
            <a:chExt cx="5608320" cy="76962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5608320" cy="769620"/>
            </a:xfrm>
            <a:custGeom>
              <a:avLst/>
              <a:gdLst/>
              <a:ahLst/>
              <a:cxnLst/>
              <a:rect r="r" b="b" t="t" l="l"/>
              <a:pathLst>
                <a:path h="7696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89" r="0" b="-91989"/>
              </a:stretch>
            </a:blipFill>
          </p:spPr>
        </p:sp>
        <p:sp>
          <p:nvSpPr>
            <p:cNvPr name="TextBox 144" id="144"/>
            <p:cNvSpPr txBox="true"/>
            <p:nvPr/>
          </p:nvSpPr>
          <p:spPr>
            <a:xfrm>
              <a:off x="0" y="-38100"/>
              <a:ext cx="560832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Median votes: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4173200" y="7132320"/>
            <a:ext cx="2926080" cy="548640"/>
            <a:chOff x="0" y="0"/>
            <a:chExt cx="3901440" cy="73152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847" r="0" b="-53848"/>
              </a:stretch>
            </a:blip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4173200" y="7103745"/>
            <a:ext cx="2926080" cy="577215"/>
            <a:chOff x="0" y="0"/>
            <a:chExt cx="3901440" cy="76962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901440" cy="769620"/>
            </a:xfrm>
            <a:custGeom>
              <a:avLst/>
              <a:gdLst/>
              <a:ahLst/>
              <a:cxnLst/>
              <a:rect r="r" b="b" t="t" l="l"/>
              <a:pathLst>
                <a:path h="7696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75" r="0" b="-48775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390144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33,912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9875520" y="7772400"/>
            <a:ext cx="4206240" cy="548640"/>
            <a:chOff x="0" y="0"/>
            <a:chExt cx="5608320" cy="73152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1" r="0" b="-99281"/>
              </a:stretch>
            </a:blip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875520" y="7743825"/>
            <a:ext cx="4206240" cy="577215"/>
            <a:chOff x="0" y="0"/>
            <a:chExt cx="5608320" cy="76962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5608320" cy="769620"/>
            </a:xfrm>
            <a:custGeom>
              <a:avLst/>
              <a:gdLst/>
              <a:ahLst/>
              <a:cxnLst/>
              <a:rect r="r" b="b" t="t" l="l"/>
              <a:pathLst>
                <a:path h="7696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89" r="0" b="-91989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560832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 votes: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4173200" y="7772400"/>
            <a:ext cx="2926080" cy="548640"/>
            <a:chOff x="0" y="0"/>
            <a:chExt cx="3901440" cy="73152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847" r="0" b="-53848"/>
              </a:stretch>
            </a:blip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14173200" y="7743825"/>
            <a:ext cx="2926080" cy="577215"/>
            <a:chOff x="0" y="0"/>
            <a:chExt cx="3901440" cy="76962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3901440" cy="769620"/>
            </a:xfrm>
            <a:custGeom>
              <a:avLst/>
              <a:gdLst/>
              <a:ahLst/>
              <a:cxnLst/>
              <a:rect r="r" b="b" t="t" l="l"/>
              <a:pathLst>
                <a:path h="7696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75" r="0" b="-48775"/>
              </a:stretch>
            </a:blipFill>
          </p:spPr>
        </p:sp>
        <p:sp>
          <p:nvSpPr>
            <p:cNvPr name="TextBox 159" id="159"/>
            <p:cNvSpPr txBox="true"/>
            <p:nvPr/>
          </p:nvSpPr>
          <p:spPr>
            <a:xfrm>
              <a:off x="0" y="-38100"/>
              <a:ext cx="390144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2.75 M</a:t>
              </a:r>
            </a:p>
          </p:txBody>
        </p:sp>
      </p:grpSp>
      <p:grpSp>
        <p:nvGrpSpPr>
          <p:cNvPr name="Group 160" id="160"/>
          <p:cNvGrpSpPr/>
          <p:nvPr/>
        </p:nvGrpSpPr>
        <p:grpSpPr>
          <a:xfrm rot="0">
            <a:off x="9875520" y="8412480"/>
            <a:ext cx="4206240" cy="548640"/>
            <a:chOff x="0" y="0"/>
            <a:chExt cx="5608320" cy="73152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1" r="0" b="-99281"/>
              </a:stretch>
            </a:blip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9875520" y="8383905"/>
            <a:ext cx="4206240" cy="577215"/>
            <a:chOff x="0" y="0"/>
            <a:chExt cx="5608320" cy="76962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608320" cy="769620"/>
            </a:xfrm>
            <a:custGeom>
              <a:avLst/>
              <a:gdLst/>
              <a:ahLst/>
              <a:cxnLst/>
              <a:rect r="r" b="b" t="t" l="l"/>
              <a:pathLst>
                <a:path h="7696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89" r="0" b="-91989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560832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Avg Metascore: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4173200" y="8412480"/>
            <a:ext cx="2926080" cy="548640"/>
            <a:chOff x="0" y="0"/>
            <a:chExt cx="3901440" cy="73152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847" r="0" b="-53848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4173200" y="8383905"/>
            <a:ext cx="2926080" cy="577215"/>
            <a:chOff x="0" y="0"/>
            <a:chExt cx="3901440" cy="76962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901440" cy="769620"/>
            </a:xfrm>
            <a:custGeom>
              <a:avLst/>
              <a:gdLst/>
              <a:ahLst/>
              <a:cxnLst/>
              <a:rect r="r" b="b" t="t" l="l"/>
              <a:pathLst>
                <a:path h="7696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75" r="0" b="-48775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390144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58.75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9875520" y="9052560"/>
            <a:ext cx="4206240" cy="548640"/>
            <a:chOff x="0" y="0"/>
            <a:chExt cx="5608320" cy="73152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5608320" cy="731520"/>
            </a:xfrm>
            <a:custGeom>
              <a:avLst/>
              <a:gdLst/>
              <a:ahLst/>
              <a:cxnLst/>
              <a:rect r="r" b="b" t="t" l="l"/>
              <a:pathLst>
                <a:path h="731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281" r="0" b="-99281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9875520" y="9023985"/>
            <a:ext cx="4206240" cy="577215"/>
            <a:chOff x="0" y="0"/>
            <a:chExt cx="5608320" cy="76962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5608320" cy="769620"/>
            </a:xfrm>
            <a:custGeom>
              <a:avLst/>
              <a:gdLst/>
              <a:ahLst/>
              <a:cxnLst/>
              <a:rect r="r" b="b" t="t" l="l"/>
              <a:pathLst>
                <a:path h="7696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989" r="0" b="-91989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38100"/>
              <a:ext cx="560832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Most common genre: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4173200" y="9052560"/>
            <a:ext cx="2926080" cy="548640"/>
            <a:chOff x="0" y="0"/>
            <a:chExt cx="3901440" cy="73152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390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847" r="0" b="-53848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4173200" y="9023985"/>
            <a:ext cx="2926080" cy="577215"/>
            <a:chOff x="0" y="0"/>
            <a:chExt cx="3901440" cy="76962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901440" cy="769620"/>
            </a:xfrm>
            <a:custGeom>
              <a:avLst/>
              <a:gdLst/>
              <a:ahLst/>
              <a:cxnLst/>
              <a:rect r="r" b="b" t="t" l="l"/>
              <a:pathLst>
                <a:path h="7696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75" r="0" b="-48775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390144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Comedy / Drama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9875520" y="3599993"/>
            <a:ext cx="3171073" cy="640080"/>
            <a:chOff x="0" y="0"/>
            <a:chExt cx="4228097" cy="85344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4228084" cy="853440"/>
            </a:xfrm>
            <a:custGeom>
              <a:avLst/>
              <a:gdLst/>
              <a:ahLst/>
              <a:cxnLst/>
              <a:rect r="r" b="b" t="t" l="l"/>
              <a:pathLst>
                <a:path h="853440" w="4228084">
                  <a:moveTo>
                    <a:pt x="0" y="0"/>
                  </a:moveTo>
                  <a:lnTo>
                    <a:pt x="4228084" y="0"/>
                  </a:lnTo>
                  <a:lnTo>
                    <a:pt x="422808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465" r="0" b="-46464"/>
              </a:stretch>
            </a:blip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9875520" y="3571418"/>
            <a:ext cx="3171073" cy="668655"/>
            <a:chOff x="0" y="0"/>
            <a:chExt cx="4228097" cy="89154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228092" cy="891540"/>
            </a:xfrm>
            <a:custGeom>
              <a:avLst/>
              <a:gdLst/>
              <a:ahLst/>
              <a:cxnLst/>
              <a:rect r="r" b="b" t="t" l="l"/>
              <a:pathLst>
                <a:path h="891540" w="4228092">
                  <a:moveTo>
                    <a:pt x="0" y="0"/>
                  </a:moveTo>
                  <a:lnTo>
                    <a:pt x="4228092" y="0"/>
                  </a:lnTo>
                  <a:lnTo>
                    <a:pt x="4228092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07" r="0" b="-42407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4228097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Director_Avg_Rating - Rating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9875520" y="4025389"/>
            <a:ext cx="4023360" cy="640080"/>
            <a:chOff x="0" y="0"/>
            <a:chExt cx="5364480" cy="85344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392" r="0" b="-72391"/>
              </a:stretch>
            </a:blip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9875520" y="3996814"/>
            <a:ext cx="4023360" cy="668655"/>
            <a:chOff x="0" y="0"/>
            <a:chExt cx="5364480" cy="891540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5364480" cy="891540"/>
            </a:xfrm>
            <a:custGeom>
              <a:avLst/>
              <a:gdLst/>
              <a:ahLst/>
              <a:cxnLst/>
              <a:rect r="r" b="b" t="t" l="l"/>
              <a:pathLst>
                <a:path h="8915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43" r="0" b="-67243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38100"/>
              <a:ext cx="536448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Runtime - Rating</a:t>
              </a:r>
            </a:p>
          </p:txBody>
        </p:sp>
      </p:grpSp>
      <p:sp>
        <p:nvSpPr>
          <p:cNvPr name="Freeform 190" id="190"/>
          <p:cNvSpPr/>
          <p:nvPr/>
        </p:nvSpPr>
        <p:spPr>
          <a:xfrm flipH="false" flipV="false" rot="0">
            <a:off x="13147338" y="3696329"/>
            <a:ext cx="751484" cy="345500"/>
          </a:xfrm>
          <a:custGeom>
            <a:avLst/>
            <a:gdLst/>
            <a:ahLst/>
            <a:cxnLst/>
            <a:rect r="r" b="b" t="t" l="l"/>
            <a:pathLst>
              <a:path h="345500" w="751484">
                <a:moveTo>
                  <a:pt x="0" y="0"/>
                </a:moveTo>
                <a:lnTo>
                  <a:pt x="751485" y="0"/>
                </a:lnTo>
                <a:lnTo>
                  <a:pt x="751485" y="345500"/>
                </a:lnTo>
                <a:lnTo>
                  <a:pt x="0" y="3455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1" id="191"/>
          <p:cNvSpPr/>
          <p:nvPr/>
        </p:nvSpPr>
        <p:spPr>
          <a:xfrm flipH="false" flipV="false" rot="0">
            <a:off x="13137813" y="4137155"/>
            <a:ext cx="395268" cy="304733"/>
          </a:xfrm>
          <a:custGeom>
            <a:avLst/>
            <a:gdLst/>
            <a:ahLst/>
            <a:cxnLst/>
            <a:rect r="r" b="b" t="t" l="l"/>
            <a:pathLst>
              <a:path h="304733" w="395268">
                <a:moveTo>
                  <a:pt x="0" y="0"/>
                </a:moveTo>
                <a:lnTo>
                  <a:pt x="395269" y="0"/>
                </a:lnTo>
                <a:lnTo>
                  <a:pt x="395269" y="304733"/>
                </a:lnTo>
                <a:lnTo>
                  <a:pt x="0" y="30473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16093440" y="4058031"/>
            <a:ext cx="1097280" cy="408508"/>
            <a:chOff x="0" y="0"/>
            <a:chExt cx="1463040" cy="544678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1463040" cy="544703"/>
            </a:xfrm>
            <a:custGeom>
              <a:avLst/>
              <a:gdLst/>
              <a:ahLst/>
              <a:cxnLst/>
              <a:rect r="r" b="b" t="t" l="l"/>
              <a:pathLst>
                <a:path h="544703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4703"/>
                  </a:lnTo>
                  <a:lnTo>
                    <a:pt x="0" y="5447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1" r="0" b="-2296"/>
              </a:stretch>
            </a:blip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16093440" y="4029456"/>
            <a:ext cx="1097280" cy="437083"/>
            <a:chOff x="0" y="0"/>
            <a:chExt cx="1463040" cy="5827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1463040" cy="582783"/>
            </a:xfrm>
            <a:custGeom>
              <a:avLst/>
              <a:gdLst/>
              <a:ahLst/>
              <a:cxnLst/>
              <a:rect r="r" b="b" t="t" l="l"/>
              <a:pathLst>
                <a:path h="582783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82783"/>
                  </a:lnTo>
                  <a:lnTo>
                    <a:pt x="0" y="5827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7" t="0" r="-1107" b="0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1463040" cy="620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~0.12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6093440" y="3617081"/>
            <a:ext cx="1097280" cy="402850"/>
            <a:chOff x="0" y="0"/>
            <a:chExt cx="1463040" cy="537134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463040" cy="537083"/>
            </a:xfrm>
            <a:custGeom>
              <a:avLst/>
              <a:gdLst/>
              <a:ahLst/>
              <a:cxnLst/>
              <a:rect r="r" b="b" t="t" l="l"/>
              <a:pathLst>
                <a:path h="537083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37083"/>
                  </a:lnTo>
                  <a:lnTo>
                    <a:pt x="0" y="5370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36" r="0" b="-3045"/>
              </a:stretch>
            </a:blipFill>
          </p:spPr>
        </p:sp>
      </p:grpSp>
      <p:grpSp>
        <p:nvGrpSpPr>
          <p:cNvPr name="Group 199" id="199"/>
          <p:cNvGrpSpPr/>
          <p:nvPr/>
        </p:nvGrpSpPr>
        <p:grpSpPr>
          <a:xfrm rot="0">
            <a:off x="16093440" y="3588506"/>
            <a:ext cx="1097280" cy="431425"/>
            <a:chOff x="0" y="0"/>
            <a:chExt cx="1463040" cy="575234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1463040" cy="575228"/>
            </a:xfrm>
            <a:custGeom>
              <a:avLst/>
              <a:gdLst/>
              <a:ahLst/>
              <a:cxnLst/>
              <a:rect r="r" b="b" t="t" l="l"/>
              <a:pathLst>
                <a:path h="575228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75228"/>
                  </a:lnTo>
                  <a:lnTo>
                    <a:pt x="0" y="5752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6" t="0" r="-446" b="0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-38100"/>
              <a:ext cx="1463040" cy="6133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~0.28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50056"/>
            <a:ext cx="16459200" cy="1195864"/>
            <a:chOff x="0" y="0"/>
            <a:chExt cx="21945600" cy="1594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94485"/>
            </a:xfrm>
            <a:custGeom>
              <a:avLst/>
              <a:gdLst/>
              <a:ahLst/>
              <a:cxnLst/>
              <a:rect r="r" b="b" t="t" l="l"/>
              <a:pathLst>
                <a:path h="15944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181" r="0" b="-21818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D7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Feature Engineering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01703" y="1633223"/>
            <a:ext cx="16484537" cy="98488"/>
          </a:xfrm>
          <a:custGeom>
            <a:avLst/>
            <a:gdLst/>
            <a:ahLst/>
            <a:cxnLst/>
            <a:rect r="r" b="b" t="t" l="l"/>
            <a:pathLst>
              <a:path h="98488" w="16484537">
                <a:moveTo>
                  <a:pt x="0" y="0"/>
                </a:moveTo>
                <a:lnTo>
                  <a:pt x="16484537" y="0"/>
                </a:lnTo>
                <a:lnTo>
                  <a:pt x="16484537" y="98489"/>
                </a:lnTo>
                <a:lnTo>
                  <a:pt x="0" y="98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29590" y="2358390"/>
            <a:ext cx="8450580" cy="2324100"/>
          </a:xfrm>
          <a:custGeom>
            <a:avLst/>
            <a:gdLst/>
            <a:ahLst/>
            <a:cxnLst/>
            <a:rect r="r" b="b" t="t" l="l"/>
            <a:pathLst>
              <a:path h="2324100" w="8450580">
                <a:moveTo>
                  <a:pt x="0" y="0"/>
                </a:moveTo>
                <a:lnTo>
                  <a:pt x="8450580" y="0"/>
                </a:lnTo>
                <a:lnTo>
                  <a:pt x="845058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14400" y="3299841"/>
            <a:ext cx="7680960" cy="1162431"/>
            <a:chOff x="0" y="0"/>
            <a:chExt cx="10241280" cy="15499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1549908"/>
            </a:xfrm>
            <a:custGeom>
              <a:avLst/>
              <a:gdLst/>
              <a:ahLst/>
              <a:cxnLst/>
              <a:rect r="r" b="b" t="t" l="l"/>
              <a:pathLst>
                <a:path h="15499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750" r="0" b="-787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241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Metacritic score (0–100). Expert critic consensus. Strong predictor of quality.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2560320"/>
            <a:ext cx="5486400" cy="694944"/>
            <a:chOff x="0" y="0"/>
            <a:chExt cx="731520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722" r="0" b="-10372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531745"/>
            <a:ext cx="5486400" cy="723519"/>
            <a:chOff x="0" y="0"/>
            <a:chExt cx="7315200" cy="9646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964692"/>
            </a:xfrm>
            <a:custGeom>
              <a:avLst/>
              <a:gdLst/>
              <a:ahLst/>
              <a:cxnLst/>
              <a:rect r="r" b="b" t="t" l="l"/>
              <a:pathLst>
                <a:path h="9646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53" r="0" b="-977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3152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Meta_score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83680" y="2630329"/>
            <a:ext cx="2011680" cy="533495"/>
            <a:chOff x="0" y="0"/>
            <a:chExt cx="2682240" cy="7113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82240" cy="711327"/>
            </a:xfrm>
            <a:custGeom>
              <a:avLst/>
              <a:gdLst/>
              <a:ahLst/>
              <a:cxnLst/>
              <a:rect r="r" b="b" t="t" l="l"/>
              <a:pathLst>
                <a:path h="711327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3" r="0" b="-234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6822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Original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35943" y="2364743"/>
            <a:ext cx="171640" cy="2311336"/>
          </a:xfrm>
          <a:custGeom>
            <a:avLst/>
            <a:gdLst/>
            <a:ahLst/>
            <a:cxnLst/>
            <a:rect r="r" b="b" t="t" l="l"/>
            <a:pathLst>
              <a:path h="2311336" w="171640">
                <a:moveTo>
                  <a:pt x="0" y="0"/>
                </a:moveTo>
                <a:lnTo>
                  <a:pt x="171641" y="0"/>
                </a:lnTo>
                <a:lnTo>
                  <a:pt x="171641" y="2311337"/>
                </a:lnTo>
                <a:lnTo>
                  <a:pt x="0" y="2311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29590" y="4918710"/>
            <a:ext cx="8450580" cy="2324100"/>
          </a:xfrm>
          <a:custGeom>
            <a:avLst/>
            <a:gdLst/>
            <a:ahLst/>
            <a:cxnLst/>
            <a:rect r="r" b="b" t="t" l="l"/>
            <a:pathLst>
              <a:path h="2324100" w="8450580">
                <a:moveTo>
                  <a:pt x="0" y="0"/>
                </a:moveTo>
                <a:lnTo>
                  <a:pt x="8450580" y="0"/>
                </a:lnTo>
                <a:lnTo>
                  <a:pt x="845058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14400" y="5860161"/>
            <a:ext cx="7680960" cy="1162431"/>
            <a:chOff x="0" y="0"/>
            <a:chExt cx="10241280" cy="15499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1549908"/>
            </a:xfrm>
            <a:custGeom>
              <a:avLst/>
              <a:gdLst/>
              <a:ahLst/>
              <a:cxnLst/>
              <a:rect r="r" b="b" t="t" l="l"/>
              <a:pathLst>
                <a:path h="15499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750" r="0" b="-787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241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Movie duration in minutes. Converted from string 'X min' to numeric.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83680" y="5190649"/>
            <a:ext cx="2011680" cy="533495"/>
            <a:chOff x="0" y="0"/>
            <a:chExt cx="2682240" cy="7113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82240" cy="711327"/>
            </a:xfrm>
            <a:custGeom>
              <a:avLst/>
              <a:gdLst/>
              <a:ahLst/>
              <a:cxnLst/>
              <a:rect r="r" b="b" t="t" l="l"/>
              <a:pathLst>
                <a:path h="711327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3" r="0" b="-2347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6822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Original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5120640"/>
            <a:ext cx="5486400" cy="694944"/>
            <a:chOff x="0" y="0"/>
            <a:chExt cx="7315200" cy="926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722" r="0" b="-10372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5092065"/>
            <a:ext cx="5486400" cy="723519"/>
            <a:chOff x="0" y="0"/>
            <a:chExt cx="7315200" cy="9646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0" cy="964692"/>
            </a:xfrm>
            <a:custGeom>
              <a:avLst/>
              <a:gdLst/>
              <a:ahLst/>
              <a:cxnLst/>
              <a:rect r="r" b="b" t="t" l="l"/>
              <a:pathLst>
                <a:path h="9646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53" r="0" b="-977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3152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Runtime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535943" y="4925063"/>
            <a:ext cx="171640" cy="2311336"/>
          </a:xfrm>
          <a:custGeom>
            <a:avLst/>
            <a:gdLst/>
            <a:ahLst/>
            <a:cxnLst/>
            <a:rect r="r" b="b" t="t" l="l"/>
            <a:pathLst>
              <a:path h="2311336" w="171640">
                <a:moveTo>
                  <a:pt x="0" y="0"/>
                </a:moveTo>
                <a:lnTo>
                  <a:pt x="171641" y="0"/>
                </a:lnTo>
                <a:lnTo>
                  <a:pt x="171641" y="2311337"/>
                </a:lnTo>
                <a:lnTo>
                  <a:pt x="0" y="2311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29590" y="7479030"/>
            <a:ext cx="8450580" cy="2324100"/>
          </a:xfrm>
          <a:custGeom>
            <a:avLst/>
            <a:gdLst/>
            <a:ahLst/>
            <a:cxnLst/>
            <a:rect r="r" b="b" t="t" l="l"/>
            <a:pathLst>
              <a:path h="2324100" w="8450580">
                <a:moveTo>
                  <a:pt x="0" y="0"/>
                </a:moveTo>
                <a:lnTo>
                  <a:pt x="8450580" y="0"/>
                </a:lnTo>
                <a:lnTo>
                  <a:pt x="845058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914400" y="8449056"/>
            <a:ext cx="7680960" cy="1133856"/>
            <a:chOff x="0" y="0"/>
            <a:chExt cx="10241280" cy="15118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903" r="0" b="-8190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400" y="8420481"/>
            <a:ext cx="7680960" cy="1162431"/>
            <a:chOff x="0" y="0"/>
            <a:chExt cx="10241280" cy="15499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41280" cy="1549908"/>
            </a:xfrm>
            <a:custGeom>
              <a:avLst/>
              <a:gdLst/>
              <a:ahLst/>
              <a:cxnLst/>
              <a:rect r="r" b="b" t="t" l="l"/>
              <a:pathLst>
                <a:path h="15499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750" r="0" b="-787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241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 IMDb rating of all movies by same director in dataset. Captures reputation.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583680" y="7772400"/>
            <a:ext cx="2011680" cy="512064"/>
            <a:chOff x="0" y="0"/>
            <a:chExt cx="268224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82240" cy="682752"/>
            </a:xfrm>
            <a:custGeom>
              <a:avLst/>
              <a:gdLst/>
              <a:ahLst/>
              <a:cxnLst/>
              <a:rect r="r" b="b" t="t" l="l"/>
              <a:pathLst>
                <a:path h="68275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95" r="0" b="-26495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583680" y="7750969"/>
            <a:ext cx="2011680" cy="533495"/>
            <a:chOff x="0" y="0"/>
            <a:chExt cx="2682240" cy="71132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82240" cy="711327"/>
            </a:xfrm>
            <a:custGeom>
              <a:avLst/>
              <a:gdLst/>
              <a:ahLst/>
              <a:cxnLst/>
              <a:rect r="r" b="b" t="t" l="l"/>
              <a:pathLst>
                <a:path h="711327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3" r="0" b="-2347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26822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Engineered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7680960"/>
            <a:ext cx="5486400" cy="694944"/>
            <a:chOff x="0" y="0"/>
            <a:chExt cx="7315200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722" r="0" b="-103722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7652385"/>
            <a:ext cx="5486400" cy="723519"/>
            <a:chOff x="0" y="0"/>
            <a:chExt cx="7315200" cy="9646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0" cy="964692"/>
            </a:xfrm>
            <a:custGeom>
              <a:avLst/>
              <a:gdLst/>
              <a:ahLst/>
              <a:cxnLst/>
              <a:rect r="r" b="b" t="t" l="l"/>
              <a:pathLst>
                <a:path h="9646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53" r="0" b="-9775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73152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Director_Avg_Rating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535943" y="7485383"/>
            <a:ext cx="171640" cy="2311336"/>
          </a:xfrm>
          <a:custGeom>
            <a:avLst/>
            <a:gdLst/>
            <a:ahLst/>
            <a:cxnLst/>
            <a:rect r="r" b="b" t="t" l="l"/>
            <a:pathLst>
              <a:path h="2311336" w="171640">
                <a:moveTo>
                  <a:pt x="0" y="0"/>
                </a:moveTo>
                <a:lnTo>
                  <a:pt x="171641" y="0"/>
                </a:lnTo>
                <a:lnTo>
                  <a:pt x="171641" y="2311337"/>
                </a:lnTo>
                <a:lnTo>
                  <a:pt x="0" y="2311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490710" y="2358390"/>
            <a:ext cx="8450580" cy="2324100"/>
          </a:xfrm>
          <a:custGeom>
            <a:avLst/>
            <a:gdLst/>
            <a:ahLst/>
            <a:cxnLst/>
            <a:rect r="r" b="b" t="t" l="l"/>
            <a:pathLst>
              <a:path h="2324100" w="8450580">
                <a:moveTo>
                  <a:pt x="0" y="0"/>
                </a:moveTo>
                <a:lnTo>
                  <a:pt x="8450580" y="0"/>
                </a:lnTo>
                <a:lnTo>
                  <a:pt x="845058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9490710" y="4918710"/>
            <a:ext cx="8450580" cy="2324100"/>
          </a:xfrm>
          <a:custGeom>
            <a:avLst/>
            <a:gdLst/>
            <a:ahLst/>
            <a:cxnLst/>
            <a:rect r="r" b="b" t="t" l="l"/>
            <a:pathLst>
              <a:path h="2324100" w="8450580">
                <a:moveTo>
                  <a:pt x="0" y="0"/>
                </a:moveTo>
                <a:lnTo>
                  <a:pt x="8450580" y="0"/>
                </a:lnTo>
                <a:lnTo>
                  <a:pt x="845058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9490710" y="7479030"/>
            <a:ext cx="8450580" cy="2324100"/>
          </a:xfrm>
          <a:custGeom>
            <a:avLst/>
            <a:gdLst/>
            <a:ahLst/>
            <a:cxnLst/>
            <a:rect r="r" b="b" t="t" l="l"/>
            <a:pathLst>
              <a:path h="2324100" w="8450580">
                <a:moveTo>
                  <a:pt x="0" y="0"/>
                </a:moveTo>
                <a:lnTo>
                  <a:pt x="8450580" y="0"/>
                </a:lnTo>
                <a:lnTo>
                  <a:pt x="845058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9875520" y="3299841"/>
            <a:ext cx="7680960" cy="1162431"/>
            <a:chOff x="0" y="0"/>
            <a:chExt cx="10241280" cy="154990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41280" cy="1549908"/>
            </a:xfrm>
            <a:custGeom>
              <a:avLst/>
              <a:gdLst/>
              <a:ahLst/>
              <a:cxnLst/>
              <a:rect r="r" b="b" t="t" l="l"/>
              <a:pathLst>
                <a:path h="15499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750" r="0" b="-787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241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log(1 + No_of_Votes). Log-transforms the skewed vote count for normality.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75520" y="5888736"/>
            <a:ext cx="7680960" cy="1133856"/>
            <a:chOff x="0" y="0"/>
            <a:chExt cx="10241280" cy="151180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903" r="0" b="-81903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875520" y="5860161"/>
            <a:ext cx="7680960" cy="1162431"/>
            <a:chOff x="0" y="0"/>
            <a:chExt cx="10241280" cy="15499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1549908"/>
            </a:xfrm>
            <a:custGeom>
              <a:avLst/>
              <a:gdLst/>
              <a:ahLst/>
              <a:cxnLst/>
              <a:rect r="r" b="b" t="t" l="l"/>
              <a:pathLst>
                <a:path h="15499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750" r="0" b="-787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241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log(1 + Gross). Log-transforms box office earnings to reduce skew.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75520" y="8449056"/>
            <a:ext cx="7680960" cy="1133856"/>
            <a:chOff x="0" y="0"/>
            <a:chExt cx="10241280" cy="15118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903" r="0" b="-81903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875520" y="8420481"/>
            <a:ext cx="7680960" cy="1162431"/>
            <a:chOff x="0" y="0"/>
            <a:chExt cx="10241280" cy="154990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0" cy="1549908"/>
            </a:xfrm>
            <a:custGeom>
              <a:avLst/>
              <a:gdLst/>
              <a:ahLst/>
              <a:cxnLst/>
              <a:rect r="r" b="b" t="t" l="l"/>
              <a:pathLst>
                <a:path h="154990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750" r="0" b="-7875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241280" cy="15880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 rating of the movie's primary genre. Contextualizes genre expectations.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875520" y="2560320"/>
            <a:ext cx="5486400" cy="694944"/>
            <a:chOff x="0" y="0"/>
            <a:chExt cx="731520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722" r="0" b="-103722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75520" y="2531745"/>
            <a:ext cx="5486400" cy="723519"/>
            <a:chOff x="0" y="0"/>
            <a:chExt cx="7315200" cy="9646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315200" cy="964692"/>
            </a:xfrm>
            <a:custGeom>
              <a:avLst/>
              <a:gdLst/>
              <a:ahLst/>
              <a:cxnLst/>
              <a:rect r="r" b="b" t="t" l="l"/>
              <a:pathLst>
                <a:path h="9646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53" r="0" b="-9775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73152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Log_Votes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75520" y="5120640"/>
            <a:ext cx="5486400" cy="694944"/>
            <a:chOff x="0" y="0"/>
            <a:chExt cx="7315200" cy="9265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722" r="0" b="-103722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875520" y="5092065"/>
            <a:ext cx="5486400" cy="723519"/>
            <a:chOff x="0" y="0"/>
            <a:chExt cx="7315200" cy="9646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0" cy="964692"/>
            </a:xfrm>
            <a:custGeom>
              <a:avLst/>
              <a:gdLst/>
              <a:ahLst/>
              <a:cxnLst/>
              <a:rect r="r" b="b" t="t" l="l"/>
              <a:pathLst>
                <a:path h="9646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53" r="0" b="-9775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73152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Log_Gross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875520" y="7680960"/>
            <a:ext cx="5486400" cy="694944"/>
            <a:chOff x="0" y="0"/>
            <a:chExt cx="7315200" cy="9265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3722" r="0" b="-103722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875520" y="7652385"/>
            <a:ext cx="5486400" cy="723519"/>
            <a:chOff x="0" y="0"/>
            <a:chExt cx="7315200" cy="9646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00" cy="964692"/>
            </a:xfrm>
            <a:custGeom>
              <a:avLst/>
              <a:gdLst/>
              <a:ahLst/>
              <a:cxnLst/>
              <a:rect r="r" b="b" t="t" l="l"/>
              <a:pathLst>
                <a:path h="9646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64692"/>
                  </a:lnTo>
                  <a:lnTo>
                    <a:pt x="0" y="964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53" r="0" b="-9775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7315200" cy="1002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Genre_Avg_Rating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544800" y="2651760"/>
            <a:ext cx="2011680" cy="512064"/>
            <a:chOff x="0" y="0"/>
            <a:chExt cx="268224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682240" cy="682752"/>
            </a:xfrm>
            <a:custGeom>
              <a:avLst/>
              <a:gdLst/>
              <a:ahLst/>
              <a:cxnLst/>
              <a:rect r="r" b="b" t="t" l="l"/>
              <a:pathLst>
                <a:path h="68275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95" r="0" b="-26495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5544800" y="2630329"/>
            <a:ext cx="2011680" cy="533495"/>
            <a:chOff x="0" y="0"/>
            <a:chExt cx="2682240" cy="71132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682240" cy="711327"/>
            </a:xfrm>
            <a:custGeom>
              <a:avLst/>
              <a:gdLst/>
              <a:ahLst/>
              <a:cxnLst/>
              <a:rect r="r" b="b" t="t" l="l"/>
              <a:pathLst>
                <a:path h="711327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3" r="0" b="-2347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26822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Engineered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5544800" y="5212080"/>
            <a:ext cx="2011680" cy="512064"/>
            <a:chOff x="0" y="0"/>
            <a:chExt cx="2682240" cy="682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682240" cy="682752"/>
            </a:xfrm>
            <a:custGeom>
              <a:avLst/>
              <a:gdLst/>
              <a:ahLst/>
              <a:cxnLst/>
              <a:rect r="r" b="b" t="t" l="l"/>
              <a:pathLst>
                <a:path h="68275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95" r="0" b="-26495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5544800" y="5190649"/>
            <a:ext cx="2011680" cy="533495"/>
            <a:chOff x="0" y="0"/>
            <a:chExt cx="2682240" cy="71132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682240" cy="711327"/>
            </a:xfrm>
            <a:custGeom>
              <a:avLst/>
              <a:gdLst/>
              <a:ahLst/>
              <a:cxnLst/>
              <a:rect r="r" b="b" t="t" l="l"/>
              <a:pathLst>
                <a:path h="711327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3" r="0" b="-2347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26822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Engineered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5544800" y="7772400"/>
            <a:ext cx="2011680" cy="512064"/>
            <a:chOff x="0" y="0"/>
            <a:chExt cx="268224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682240" cy="682752"/>
            </a:xfrm>
            <a:custGeom>
              <a:avLst/>
              <a:gdLst/>
              <a:ahLst/>
              <a:cxnLst/>
              <a:rect r="r" b="b" t="t" l="l"/>
              <a:pathLst>
                <a:path h="68275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95" r="0" b="-26495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5544800" y="7750969"/>
            <a:ext cx="2011680" cy="533495"/>
            <a:chOff x="0" y="0"/>
            <a:chExt cx="2682240" cy="71132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682240" cy="711327"/>
            </a:xfrm>
            <a:custGeom>
              <a:avLst/>
              <a:gdLst/>
              <a:ahLst/>
              <a:cxnLst/>
              <a:rect r="r" b="b" t="t" l="l"/>
              <a:pathLst>
                <a:path h="711327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73" r="0" b="-2347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268224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C9D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Engineered</a:t>
              </a: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9497063" y="2364743"/>
            <a:ext cx="171640" cy="2311336"/>
          </a:xfrm>
          <a:custGeom>
            <a:avLst/>
            <a:gdLst/>
            <a:ahLst/>
            <a:cxnLst/>
            <a:rect r="r" b="b" t="t" l="l"/>
            <a:pathLst>
              <a:path h="2311336" w="171640">
                <a:moveTo>
                  <a:pt x="0" y="0"/>
                </a:moveTo>
                <a:lnTo>
                  <a:pt x="171641" y="0"/>
                </a:lnTo>
                <a:lnTo>
                  <a:pt x="171641" y="2311337"/>
                </a:lnTo>
                <a:lnTo>
                  <a:pt x="0" y="2311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9497063" y="4925063"/>
            <a:ext cx="171640" cy="2311336"/>
          </a:xfrm>
          <a:custGeom>
            <a:avLst/>
            <a:gdLst/>
            <a:ahLst/>
            <a:cxnLst/>
            <a:rect r="r" b="b" t="t" l="l"/>
            <a:pathLst>
              <a:path h="2311336" w="171640">
                <a:moveTo>
                  <a:pt x="0" y="0"/>
                </a:moveTo>
                <a:lnTo>
                  <a:pt x="171641" y="0"/>
                </a:lnTo>
                <a:lnTo>
                  <a:pt x="171641" y="2311337"/>
                </a:lnTo>
                <a:lnTo>
                  <a:pt x="0" y="2311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9497063" y="7485383"/>
            <a:ext cx="171640" cy="2311336"/>
          </a:xfrm>
          <a:custGeom>
            <a:avLst/>
            <a:gdLst/>
            <a:ahLst/>
            <a:cxnLst/>
            <a:rect r="r" b="b" t="t" l="l"/>
            <a:pathLst>
              <a:path h="2311336" w="171640">
                <a:moveTo>
                  <a:pt x="0" y="0"/>
                </a:moveTo>
                <a:lnTo>
                  <a:pt x="171641" y="0"/>
                </a:lnTo>
                <a:lnTo>
                  <a:pt x="171641" y="2311337"/>
                </a:lnTo>
                <a:lnTo>
                  <a:pt x="0" y="2311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50056"/>
            <a:ext cx="16459200" cy="1195864"/>
            <a:chOff x="0" y="0"/>
            <a:chExt cx="21945600" cy="1594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94485"/>
            </a:xfrm>
            <a:custGeom>
              <a:avLst/>
              <a:gdLst/>
              <a:ahLst/>
              <a:cxnLst/>
              <a:rect r="r" b="b" t="t" l="l"/>
              <a:pathLst>
                <a:path h="15944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181" r="0" b="-21818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D7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Models Trained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01703" y="1633223"/>
            <a:ext cx="16484537" cy="98488"/>
          </a:xfrm>
          <a:custGeom>
            <a:avLst/>
            <a:gdLst/>
            <a:ahLst/>
            <a:cxnLst/>
            <a:rect r="r" b="b" t="t" l="l"/>
            <a:pathLst>
              <a:path h="98488" w="16484537">
                <a:moveTo>
                  <a:pt x="0" y="0"/>
                </a:moveTo>
                <a:lnTo>
                  <a:pt x="16484537" y="0"/>
                </a:lnTo>
                <a:lnTo>
                  <a:pt x="16484537" y="98489"/>
                </a:lnTo>
                <a:lnTo>
                  <a:pt x="0" y="984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35943" y="1998983"/>
            <a:ext cx="4048696" cy="3408616"/>
          </a:xfrm>
          <a:custGeom>
            <a:avLst/>
            <a:gdLst/>
            <a:ahLst/>
            <a:cxnLst/>
            <a:rect r="r" b="b" t="t" l="l"/>
            <a:pathLst>
              <a:path h="3408616" w="4048696">
                <a:moveTo>
                  <a:pt x="0" y="0"/>
                </a:moveTo>
                <a:lnTo>
                  <a:pt x="4048697" y="0"/>
                </a:lnTo>
                <a:lnTo>
                  <a:pt x="4048697" y="3408617"/>
                </a:lnTo>
                <a:lnTo>
                  <a:pt x="0" y="3408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88730" y="3592449"/>
            <a:ext cx="2743200" cy="577215"/>
            <a:chOff x="0" y="0"/>
            <a:chExt cx="3657600" cy="7696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57600" cy="769620"/>
            </a:xfrm>
            <a:custGeom>
              <a:avLst/>
              <a:gdLst/>
              <a:ahLst/>
              <a:cxnLst/>
              <a:rect r="r" b="b" t="t" l="l"/>
              <a:pathLst>
                <a:path h="7696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02" r="0" b="-426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6576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Baseline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31520" y="2286000"/>
            <a:ext cx="3657600" cy="1188720"/>
            <a:chOff x="0" y="0"/>
            <a:chExt cx="487680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12" r="0" b="-991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2257425"/>
            <a:ext cx="3657600" cy="1217295"/>
            <a:chOff x="0" y="0"/>
            <a:chExt cx="4876800" cy="16230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1623060"/>
            </a:xfrm>
            <a:custGeom>
              <a:avLst/>
              <a:gdLst/>
              <a:ahLst/>
              <a:cxnLst/>
              <a:rect r="r" b="b" t="t" l="l"/>
              <a:pathLst>
                <a:path h="16230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6" r="0" b="-85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8768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Linear Regression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870199" y="1998983"/>
            <a:ext cx="4048696" cy="3408616"/>
          </a:xfrm>
          <a:custGeom>
            <a:avLst/>
            <a:gdLst/>
            <a:ahLst/>
            <a:cxnLst/>
            <a:rect r="r" b="b" t="t" l="l"/>
            <a:pathLst>
              <a:path h="3408616" w="4048696">
                <a:moveTo>
                  <a:pt x="0" y="0"/>
                </a:moveTo>
                <a:lnTo>
                  <a:pt x="4048697" y="0"/>
                </a:lnTo>
                <a:lnTo>
                  <a:pt x="4048697" y="3408617"/>
                </a:lnTo>
                <a:lnTo>
                  <a:pt x="0" y="3408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204455" y="1998983"/>
            <a:ext cx="4048697" cy="3408616"/>
          </a:xfrm>
          <a:custGeom>
            <a:avLst/>
            <a:gdLst/>
            <a:ahLst/>
            <a:cxnLst/>
            <a:rect r="r" b="b" t="t" l="l"/>
            <a:pathLst>
              <a:path h="3408616" w="4048697">
                <a:moveTo>
                  <a:pt x="0" y="0"/>
                </a:moveTo>
                <a:lnTo>
                  <a:pt x="4048697" y="0"/>
                </a:lnTo>
                <a:lnTo>
                  <a:pt x="4048697" y="3408617"/>
                </a:lnTo>
                <a:lnTo>
                  <a:pt x="0" y="3408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538711" y="1998983"/>
            <a:ext cx="4048697" cy="3408616"/>
          </a:xfrm>
          <a:custGeom>
            <a:avLst/>
            <a:gdLst/>
            <a:ahLst/>
            <a:cxnLst/>
            <a:rect r="r" b="b" t="t" l="l"/>
            <a:pathLst>
              <a:path h="3408616" w="4048697">
                <a:moveTo>
                  <a:pt x="0" y="0"/>
                </a:moveTo>
                <a:lnTo>
                  <a:pt x="4048697" y="0"/>
                </a:lnTo>
                <a:lnTo>
                  <a:pt x="4048697" y="3408617"/>
                </a:lnTo>
                <a:lnTo>
                  <a:pt x="0" y="3408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35943" y="5839463"/>
            <a:ext cx="4048696" cy="3408616"/>
          </a:xfrm>
          <a:custGeom>
            <a:avLst/>
            <a:gdLst/>
            <a:ahLst/>
            <a:cxnLst/>
            <a:rect r="r" b="b" t="t" l="l"/>
            <a:pathLst>
              <a:path h="3408616" w="4048696">
                <a:moveTo>
                  <a:pt x="0" y="0"/>
                </a:moveTo>
                <a:lnTo>
                  <a:pt x="4048697" y="0"/>
                </a:lnTo>
                <a:lnTo>
                  <a:pt x="4048697" y="3408617"/>
                </a:lnTo>
                <a:lnTo>
                  <a:pt x="0" y="3408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870199" y="5839463"/>
            <a:ext cx="4035800" cy="3397759"/>
          </a:xfrm>
          <a:custGeom>
            <a:avLst/>
            <a:gdLst/>
            <a:ahLst/>
            <a:cxnLst/>
            <a:rect r="r" b="b" t="t" l="l"/>
            <a:pathLst>
              <a:path h="3397759" w="4035800">
                <a:moveTo>
                  <a:pt x="0" y="0"/>
                </a:moveTo>
                <a:lnTo>
                  <a:pt x="4035800" y="0"/>
                </a:lnTo>
                <a:lnTo>
                  <a:pt x="4035800" y="3397759"/>
                </a:lnTo>
                <a:lnTo>
                  <a:pt x="0" y="3397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191749" y="5826757"/>
            <a:ext cx="4074223" cy="3434144"/>
          </a:xfrm>
          <a:custGeom>
            <a:avLst/>
            <a:gdLst/>
            <a:ahLst/>
            <a:cxnLst/>
            <a:rect r="r" b="b" t="t" l="l"/>
            <a:pathLst>
              <a:path h="3434144" w="4074223">
                <a:moveTo>
                  <a:pt x="0" y="0"/>
                </a:moveTo>
                <a:lnTo>
                  <a:pt x="4074223" y="0"/>
                </a:lnTo>
                <a:lnTo>
                  <a:pt x="4074223" y="3434143"/>
                </a:lnTo>
                <a:lnTo>
                  <a:pt x="0" y="34341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538711" y="5839463"/>
            <a:ext cx="4048697" cy="3408616"/>
          </a:xfrm>
          <a:custGeom>
            <a:avLst/>
            <a:gdLst/>
            <a:ahLst/>
            <a:cxnLst/>
            <a:rect r="r" b="b" t="t" l="l"/>
            <a:pathLst>
              <a:path h="3408616" w="4048697">
                <a:moveTo>
                  <a:pt x="0" y="0"/>
                </a:moveTo>
                <a:lnTo>
                  <a:pt x="4048697" y="0"/>
                </a:lnTo>
                <a:lnTo>
                  <a:pt x="4048697" y="3408617"/>
                </a:lnTo>
                <a:lnTo>
                  <a:pt x="0" y="34086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065776" y="2286000"/>
            <a:ext cx="3657600" cy="1188720"/>
            <a:chOff x="0" y="0"/>
            <a:chExt cx="4876800" cy="15849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12" r="0" b="-991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065776" y="2257425"/>
            <a:ext cx="3657600" cy="1217295"/>
            <a:chOff x="0" y="0"/>
            <a:chExt cx="4876800" cy="16230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76800" cy="1623060"/>
            </a:xfrm>
            <a:custGeom>
              <a:avLst/>
              <a:gdLst/>
              <a:ahLst/>
              <a:cxnLst/>
              <a:rect r="r" b="b" t="t" l="l"/>
              <a:pathLst>
                <a:path h="16230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6" r="0" b="-854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8768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Ridge Regression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522986" y="3592449"/>
            <a:ext cx="2743200" cy="577215"/>
            <a:chOff x="0" y="0"/>
            <a:chExt cx="3657600" cy="7696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769620"/>
            </a:xfrm>
            <a:custGeom>
              <a:avLst/>
              <a:gdLst/>
              <a:ahLst/>
              <a:cxnLst/>
              <a:rect r="r" b="b" t="t" l="l"/>
              <a:pathLst>
                <a:path h="7696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02" r="0" b="-4260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6576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L2 Reg.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00032" y="2286000"/>
            <a:ext cx="3657600" cy="1188720"/>
            <a:chOff x="0" y="0"/>
            <a:chExt cx="4876800" cy="1584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12" r="0" b="-9911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400032" y="2257425"/>
            <a:ext cx="3657600" cy="1217295"/>
            <a:chOff x="0" y="0"/>
            <a:chExt cx="4876800" cy="16230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76800" cy="1623060"/>
            </a:xfrm>
            <a:custGeom>
              <a:avLst/>
              <a:gdLst/>
              <a:ahLst/>
              <a:cxnLst/>
              <a:rect r="r" b="b" t="t" l="l"/>
              <a:pathLst>
                <a:path h="16230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6" r="0" b="-854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8768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Lasso Regression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57222" y="3592449"/>
            <a:ext cx="2743200" cy="577215"/>
            <a:chOff x="0" y="0"/>
            <a:chExt cx="3657600" cy="7696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769620"/>
            </a:xfrm>
            <a:custGeom>
              <a:avLst/>
              <a:gdLst/>
              <a:ahLst/>
              <a:cxnLst/>
              <a:rect r="r" b="b" t="t" l="l"/>
              <a:pathLst>
                <a:path h="7696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02" r="0" b="-4260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6576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L1 Reg.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34288" y="2286000"/>
            <a:ext cx="3657600" cy="1188720"/>
            <a:chOff x="0" y="0"/>
            <a:chExt cx="4876800" cy="1584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12" r="0" b="-9911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34288" y="2257425"/>
            <a:ext cx="3657600" cy="1217295"/>
            <a:chOff x="0" y="0"/>
            <a:chExt cx="4876800" cy="16230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00" cy="1623060"/>
            </a:xfrm>
            <a:custGeom>
              <a:avLst/>
              <a:gdLst/>
              <a:ahLst/>
              <a:cxnLst/>
              <a:rect r="r" b="b" t="t" l="l"/>
              <a:pathLst>
                <a:path h="16230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6" r="0" b="-854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8768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191488" y="3592449"/>
            <a:ext cx="2743200" cy="577215"/>
            <a:chOff x="0" y="0"/>
            <a:chExt cx="3657600" cy="7696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769620"/>
            </a:xfrm>
            <a:custGeom>
              <a:avLst/>
              <a:gdLst/>
              <a:ahLst/>
              <a:cxnLst/>
              <a:rect r="r" b="b" t="t" l="l"/>
              <a:pathLst>
                <a:path h="7696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02" r="0" b="-4260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6576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Ensemble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31520" y="6126480"/>
            <a:ext cx="3657600" cy="1188720"/>
            <a:chOff x="0" y="0"/>
            <a:chExt cx="4876800" cy="1584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12" r="0" b="-9911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31520" y="6097905"/>
            <a:ext cx="3657600" cy="1217295"/>
            <a:chOff x="0" y="0"/>
            <a:chExt cx="4876800" cy="16230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1623060"/>
            </a:xfrm>
            <a:custGeom>
              <a:avLst/>
              <a:gdLst/>
              <a:ahLst/>
              <a:cxnLst/>
              <a:rect r="r" b="b" t="t" l="l"/>
              <a:pathLst>
                <a:path h="16230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6" r="0" b="-854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8768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Tuned Random Forest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88720" y="7448550"/>
            <a:ext cx="2743200" cy="548640"/>
            <a:chOff x="0" y="0"/>
            <a:chExt cx="36576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7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88720" y="7419975"/>
            <a:ext cx="2743200" cy="577215"/>
            <a:chOff x="0" y="0"/>
            <a:chExt cx="3657600" cy="7696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769620"/>
            </a:xfrm>
            <a:custGeom>
              <a:avLst/>
              <a:gdLst/>
              <a:ahLst/>
              <a:cxnLst/>
              <a:rect r="r" b="b" t="t" l="l"/>
              <a:pathLst>
                <a:path h="7696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02" r="0" b="-4260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6576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GridSearchCV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065776" y="6126480"/>
            <a:ext cx="3657600" cy="1188720"/>
            <a:chOff x="0" y="0"/>
            <a:chExt cx="4876800" cy="15849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12" r="0" b="-9911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065776" y="6097905"/>
            <a:ext cx="3657600" cy="1217295"/>
            <a:chOff x="0" y="0"/>
            <a:chExt cx="4876800" cy="16230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76800" cy="1623060"/>
            </a:xfrm>
            <a:custGeom>
              <a:avLst/>
              <a:gdLst/>
              <a:ahLst/>
              <a:cxnLst/>
              <a:rect r="r" b="b" t="t" l="l"/>
              <a:pathLst>
                <a:path h="16230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623060"/>
                  </a:lnTo>
                  <a:lnTo>
                    <a:pt x="0" y="1623060"/>
                  </a:lnTo>
                  <a:close/>
                </a:path>
              </a:pathLst>
            </a:custGeom>
            <a:solidFill>
              <a:srgbClr val="FB923C">
                <a:alpha val="0"/>
              </a:srgbClr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8768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Gradient Boosting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516632" y="7461504"/>
            <a:ext cx="2743200" cy="548640"/>
            <a:chOff x="0" y="0"/>
            <a:chExt cx="365760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7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861871" y="7434262"/>
            <a:ext cx="2743200" cy="577215"/>
            <a:chOff x="0" y="0"/>
            <a:chExt cx="3657600" cy="7696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769620"/>
            </a:xfrm>
            <a:custGeom>
              <a:avLst/>
              <a:gdLst/>
              <a:ahLst/>
              <a:cxnLst/>
              <a:rect r="r" b="b" t="t" l="l"/>
              <a:pathLst>
                <a:path h="7696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02" r="0" b="-4260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36576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Boosting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734288" y="6126480"/>
            <a:ext cx="3657600" cy="1188720"/>
            <a:chOff x="0" y="0"/>
            <a:chExt cx="4876800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12" r="0" b="-9911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734288" y="6097905"/>
            <a:ext cx="3657600" cy="1217295"/>
            <a:chOff x="0" y="0"/>
            <a:chExt cx="4876800" cy="16230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876800" cy="1623060"/>
            </a:xfrm>
            <a:custGeom>
              <a:avLst/>
              <a:gdLst/>
              <a:ahLst/>
              <a:cxnLst/>
              <a:rect r="r" b="b" t="t" l="l"/>
              <a:pathLst>
                <a:path h="16230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623060"/>
                  </a:lnTo>
                  <a:lnTo>
                    <a:pt x="0" y="16230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6" r="0" b="-854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8768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Combined (RF + GBR)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191488" y="7448550"/>
            <a:ext cx="2743200" cy="548640"/>
            <a:chOff x="0" y="0"/>
            <a:chExt cx="365760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7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4191488" y="7419975"/>
            <a:ext cx="2743200" cy="577215"/>
            <a:chOff x="0" y="0"/>
            <a:chExt cx="3657600" cy="7696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57600" cy="769620"/>
            </a:xfrm>
            <a:custGeom>
              <a:avLst/>
              <a:gdLst/>
              <a:ahLst/>
              <a:cxnLst/>
              <a:rect r="r" b="b" t="t" l="l"/>
              <a:pathLst>
                <a:path h="7696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02" r="0" b="-4260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36576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BD5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Ensemble Avg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400032" y="6126480"/>
            <a:ext cx="3657600" cy="1188720"/>
            <a:chOff x="0" y="0"/>
            <a:chExt cx="4876800" cy="15849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768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12" r="0" b="-9911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400032" y="6097905"/>
            <a:ext cx="3657600" cy="1217295"/>
            <a:chOff x="0" y="0"/>
            <a:chExt cx="4876800" cy="16230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876800" cy="1623060"/>
            </a:xfrm>
            <a:custGeom>
              <a:avLst/>
              <a:gdLst/>
              <a:ahLst/>
              <a:cxnLst/>
              <a:rect r="r" b="b" t="t" l="l"/>
              <a:pathLst>
                <a:path h="16230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623060"/>
                  </a:lnTo>
                  <a:lnTo>
                    <a:pt x="0" y="1623060"/>
                  </a:lnTo>
                  <a:close/>
                </a:path>
              </a:pathLst>
            </a:custGeom>
            <a:solidFill>
              <a:srgbClr val="FFD700">
                <a:alpha val="0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4876800" cy="1661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Tuned Gradient Boosting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771632" y="7461504"/>
            <a:ext cx="2743200" cy="548640"/>
            <a:chOff x="0" y="0"/>
            <a:chExt cx="3657600" cy="7315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7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5524624" y="7461504"/>
            <a:ext cx="2743200" cy="577215"/>
            <a:chOff x="0" y="0"/>
            <a:chExt cx="3657600" cy="7696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657600" cy="769620"/>
            </a:xfrm>
            <a:custGeom>
              <a:avLst/>
              <a:gdLst/>
              <a:ahLst/>
              <a:cxnLst/>
              <a:rect r="r" b="b" t="t" l="l"/>
              <a:pathLst>
                <a:path h="7696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02" r="0" b="-4260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6576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u="sng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Model</a:t>
              </a: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4870199" y="1998983"/>
            <a:ext cx="4048696" cy="153352"/>
          </a:xfrm>
          <a:custGeom>
            <a:avLst/>
            <a:gdLst/>
            <a:ahLst/>
            <a:cxnLst/>
            <a:rect r="r" b="b" t="t" l="l"/>
            <a:pathLst>
              <a:path h="153352" w="4048696">
                <a:moveTo>
                  <a:pt x="0" y="0"/>
                </a:moveTo>
                <a:lnTo>
                  <a:pt x="4048697" y="0"/>
                </a:lnTo>
                <a:lnTo>
                  <a:pt x="404869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535943" y="1998983"/>
            <a:ext cx="4048696" cy="153352"/>
          </a:xfrm>
          <a:custGeom>
            <a:avLst/>
            <a:gdLst/>
            <a:ahLst/>
            <a:cxnLst/>
            <a:rect r="r" b="b" t="t" l="l"/>
            <a:pathLst>
              <a:path h="153352" w="4048696">
                <a:moveTo>
                  <a:pt x="0" y="0"/>
                </a:moveTo>
                <a:lnTo>
                  <a:pt x="4048697" y="0"/>
                </a:lnTo>
                <a:lnTo>
                  <a:pt x="404869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9204455" y="1998983"/>
            <a:ext cx="4048697" cy="153352"/>
          </a:xfrm>
          <a:custGeom>
            <a:avLst/>
            <a:gdLst/>
            <a:ahLst/>
            <a:cxnLst/>
            <a:rect r="r" b="b" t="t" l="l"/>
            <a:pathLst>
              <a:path h="153352" w="4048697">
                <a:moveTo>
                  <a:pt x="0" y="0"/>
                </a:moveTo>
                <a:lnTo>
                  <a:pt x="4048697" y="0"/>
                </a:lnTo>
                <a:lnTo>
                  <a:pt x="404869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3538711" y="1998983"/>
            <a:ext cx="4048697" cy="153352"/>
          </a:xfrm>
          <a:custGeom>
            <a:avLst/>
            <a:gdLst/>
            <a:ahLst/>
            <a:cxnLst/>
            <a:rect r="r" b="b" t="t" l="l"/>
            <a:pathLst>
              <a:path h="153352" w="4048697">
                <a:moveTo>
                  <a:pt x="0" y="0"/>
                </a:moveTo>
                <a:lnTo>
                  <a:pt x="4048697" y="0"/>
                </a:lnTo>
                <a:lnTo>
                  <a:pt x="404869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535943" y="5839463"/>
            <a:ext cx="4048696" cy="153352"/>
          </a:xfrm>
          <a:custGeom>
            <a:avLst/>
            <a:gdLst/>
            <a:ahLst/>
            <a:cxnLst/>
            <a:rect r="r" b="b" t="t" l="l"/>
            <a:pathLst>
              <a:path h="153352" w="4048696">
                <a:moveTo>
                  <a:pt x="0" y="0"/>
                </a:moveTo>
                <a:lnTo>
                  <a:pt x="4048697" y="0"/>
                </a:lnTo>
                <a:lnTo>
                  <a:pt x="404869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4870199" y="5839463"/>
            <a:ext cx="4048696" cy="153352"/>
          </a:xfrm>
          <a:custGeom>
            <a:avLst/>
            <a:gdLst/>
            <a:ahLst/>
            <a:cxnLst/>
            <a:rect r="r" b="b" t="t" l="l"/>
            <a:pathLst>
              <a:path h="153352" w="4048696">
                <a:moveTo>
                  <a:pt x="0" y="0"/>
                </a:moveTo>
                <a:lnTo>
                  <a:pt x="4048697" y="0"/>
                </a:lnTo>
                <a:lnTo>
                  <a:pt x="404869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9204455" y="5839463"/>
            <a:ext cx="4048697" cy="153352"/>
          </a:xfrm>
          <a:custGeom>
            <a:avLst/>
            <a:gdLst/>
            <a:ahLst/>
            <a:cxnLst/>
            <a:rect r="r" b="b" t="t" l="l"/>
            <a:pathLst>
              <a:path h="153352" w="4048697">
                <a:moveTo>
                  <a:pt x="0" y="0"/>
                </a:moveTo>
                <a:lnTo>
                  <a:pt x="4048697" y="0"/>
                </a:lnTo>
                <a:lnTo>
                  <a:pt x="404869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13538711" y="5839463"/>
            <a:ext cx="4048697" cy="153352"/>
          </a:xfrm>
          <a:custGeom>
            <a:avLst/>
            <a:gdLst/>
            <a:ahLst/>
            <a:cxnLst/>
            <a:rect r="r" b="b" t="t" l="l"/>
            <a:pathLst>
              <a:path h="153352" w="4048697">
                <a:moveTo>
                  <a:pt x="0" y="0"/>
                </a:moveTo>
                <a:lnTo>
                  <a:pt x="4048697" y="0"/>
                </a:lnTo>
                <a:lnTo>
                  <a:pt x="404869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0056"/>
            <a:ext cx="16459200" cy="1195864"/>
            <a:chOff x="0" y="0"/>
            <a:chExt cx="21945600" cy="15944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94485"/>
            </a:xfrm>
            <a:custGeom>
              <a:avLst/>
              <a:gdLst/>
              <a:ahLst/>
              <a:cxnLst/>
              <a:rect r="r" b="b" t="t" l="l"/>
              <a:pathLst>
                <a:path h="15944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181" r="0" b="-21818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D7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Model Performance Comparison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01703" y="1633223"/>
            <a:ext cx="16484537" cy="98488"/>
          </a:xfrm>
          <a:custGeom>
            <a:avLst/>
            <a:gdLst/>
            <a:ahLst/>
            <a:cxnLst/>
            <a:rect r="r" b="b" t="t" l="l"/>
            <a:pathLst>
              <a:path h="98488" w="16484537">
                <a:moveTo>
                  <a:pt x="0" y="0"/>
                </a:moveTo>
                <a:lnTo>
                  <a:pt x="16484537" y="0"/>
                </a:lnTo>
                <a:lnTo>
                  <a:pt x="16484537" y="98489"/>
                </a:lnTo>
                <a:lnTo>
                  <a:pt x="0" y="9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31520" y="2103120"/>
          <a:ext cx="16764000" cy="6629400"/>
        </p:xfrm>
        <a:graphic>
          <a:graphicData uri="http://schemas.openxmlformats.org/drawingml/2006/table">
            <a:tbl>
              <a:tblPr/>
              <a:tblGrid>
                <a:gridCol w="6163465"/>
                <a:gridCol w="2920390"/>
                <a:gridCol w="2920390"/>
                <a:gridCol w="2920390"/>
                <a:gridCol w="1839365"/>
              </a:tblGrid>
              <a:tr h="736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R² 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700"/>
                    </a:solidFill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Gradient Boosting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~0.79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~0.29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Combined (RF + GBR)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~0.78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~0.41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2nd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Tu</a:t>
                      </a: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ned Gradient Boosting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~0.78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~0.41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 3rd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Tuned 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~0.77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~0.41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~0.77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~0.41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Ridge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~0.43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~0.33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Linear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~0.43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~0.33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36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Lasso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~0.74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~0.44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~0.33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CBD5E1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8th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0D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82880"/>
            <a:ext cx="16459200" cy="1141362"/>
            <a:chOff x="0" y="0"/>
            <a:chExt cx="21945600" cy="15218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21841"/>
            </a:xfrm>
            <a:custGeom>
              <a:avLst/>
              <a:gdLst/>
              <a:ahLst/>
              <a:cxnLst/>
              <a:rect r="r" b="b" t="t" l="l"/>
              <a:pathLst>
                <a:path h="152184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1841"/>
                  </a:lnTo>
                  <a:lnTo>
                    <a:pt x="0" y="15218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787" r="0" b="-23078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75736"/>
            <a:ext cx="16459200" cy="1148505"/>
            <a:chOff x="0" y="0"/>
            <a:chExt cx="21945600" cy="15313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531342"/>
            </a:xfrm>
            <a:custGeom>
              <a:avLst/>
              <a:gdLst/>
              <a:ahLst/>
              <a:cxnLst/>
              <a:rect r="r" b="b" t="t" l="l"/>
              <a:pathLst>
                <a:path h="15313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1342"/>
                  </a:lnTo>
                  <a:lnTo>
                    <a:pt x="0" y="15313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39" r="0" b="-22923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540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D7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R² Score Comparison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65760" y="1554480"/>
            <a:ext cx="4023360" cy="804672"/>
            <a:chOff x="0" y="0"/>
            <a:chExt cx="5364480" cy="10728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65760" y="1518761"/>
            <a:ext cx="4023360" cy="840391"/>
            <a:chOff x="0" y="0"/>
            <a:chExt cx="5364480" cy="11205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64480" cy="1120521"/>
            </a:xfrm>
            <a:custGeom>
              <a:avLst/>
              <a:gdLst/>
              <a:ahLst/>
              <a:cxnLst/>
              <a:rect r="r" b="b" t="t" l="l"/>
              <a:pathLst>
                <a:path h="112052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20521"/>
                  </a:lnTo>
                  <a:lnTo>
                    <a:pt x="0" y="11205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4" r="0" b="-4328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364480" cy="1168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Gradient boosting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14400" y="1368038"/>
            <a:ext cx="16484537" cy="98488"/>
          </a:xfrm>
          <a:custGeom>
            <a:avLst/>
            <a:gdLst/>
            <a:ahLst/>
            <a:cxnLst/>
            <a:rect r="r" b="b" t="t" l="l"/>
            <a:pathLst>
              <a:path h="98488" w="16484537">
                <a:moveTo>
                  <a:pt x="0" y="0"/>
                </a:moveTo>
                <a:lnTo>
                  <a:pt x="16484536" y="0"/>
                </a:lnTo>
                <a:lnTo>
                  <a:pt x="16484536" y="98488"/>
                </a:lnTo>
                <a:lnTo>
                  <a:pt x="0" y="984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65760" y="2578608"/>
            <a:ext cx="4023360" cy="804672"/>
            <a:chOff x="0" y="0"/>
            <a:chExt cx="5364480" cy="1072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2542889"/>
            <a:ext cx="4023360" cy="840391"/>
            <a:chOff x="0" y="0"/>
            <a:chExt cx="5364480" cy="11205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64480" cy="1120521"/>
            </a:xfrm>
            <a:custGeom>
              <a:avLst/>
              <a:gdLst/>
              <a:ahLst/>
              <a:cxnLst/>
              <a:rect r="r" b="b" t="t" l="l"/>
              <a:pathLst>
                <a:path h="112052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20521"/>
                  </a:lnTo>
                  <a:lnTo>
                    <a:pt x="0" y="11205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4" r="0" b="-4328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364480" cy="1168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RF + GBR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5760" y="3602736"/>
            <a:ext cx="4023360" cy="804672"/>
            <a:chOff x="0" y="0"/>
            <a:chExt cx="5364480" cy="10728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65760" y="3567017"/>
            <a:ext cx="4023360" cy="840391"/>
            <a:chOff x="0" y="0"/>
            <a:chExt cx="5364480" cy="11205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1120521"/>
            </a:xfrm>
            <a:custGeom>
              <a:avLst/>
              <a:gdLst/>
              <a:ahLst/>
              <a:cxnLst/>
              <a:rect r="r" b="b" t="t" l="l"/>
              <a:pathLst>
                <a:path h="112052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20521"/>
                  </a:lnTo>
                  <a:lnTo>
                    <a:pt x="0" y="11205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4" r="0" b="-4328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364480" cy="1168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2C55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Tuned Gradient Boost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760" y="4626864"/>
            <a:ext cx="4023360" cy="804672"/>
            <a:chOff x="0" y="0"/>
            <a:chExt cx="5364480" cy="10728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65760" y="4591145"/>
            <a:ext cx="4023360" cy="840391"/>
            <a:chOff x="0" y="0"/>
            <a:chExt cx="5364480" cy="11205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64480" cy="1120521"/>
            </a:xfrm>
            <a:custGeom>
              <a:avLst/>
              <a:gdLst/>
              <a:ahLst/>
              <a:cxnLst/>
              <a:rect r="r" b="b" t="t" l="l"/>
              <a:pathLst>
                <a:path h="112052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20521"/>
                  </a:lnTo>
                  <a:lnTo>
                    <a:pt x="0" y="11205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4" r="0" b="-4328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364480" cy="1168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FFD7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Tuned RF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65760" y="5650992"/>
            <a:ext cx="4023360" cy="804672"/>
            <a:chOff x="0" y="0"/>
            <a:chExt cx="5364480" cy="10728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65760" y="5615273"/>
            <a:ext cx="4023360" cy="840391"/>
            <a:chOff x="0" y="0"/>
            <a:chExt cx="5364480" cy="11205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64480" cy="1120521"/>
            </a:xfrm>
            <a:custGeom>
              <a:avLst/>
              <a:gdLst/>
              <a:ahLst/>
              <a:cxnLst/>
              <a:rect r="r" b="b" t="t" l="l"/>
              <a:pathLst>
                <a:path h="112052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20521"/>
                  </a:lnTo>
                  <a:lnTo>
                    <a:pt x="0" y="11205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4" r="0" b="-4328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5364480" cy="1168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FFD7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65760" y="6675120"/>
            <a:ext cx="4023360" cy="804672"/>
            <a:chOff x="0" y="0"/>
            <a:chExt cx="5364480" cy="10728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65760" y="6639401"/>
            <a:ext cx="4023360" cy="840391"/>
            <a:chOff x="0" y="0"/>
            <a:chExt cx="5364480" cy="112052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4480" cy="1120521"/>
            </a:xfrm>
            <a:custGeom>
              <a:avLst/>
              <a:gdLst/>
              <a:ahLst/>
              <a:cxnLst/>
              <a:rect r="r" b="b" t="t" l="l"/>
              <a:pathLst>
                <a:path h="112052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20521"/>
                  </a:lnTo>
                  <a:lnTo>
                    <a:pt x="0" y="11205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4" r="0" b="-4328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364480" cy="1168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F39C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Ridge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65760" y="7699248"/>
            <a:ext cx="4023360" cy="804672"/>
            <a:chOff x="0" y="0"/>
            <a:chExt cx="5364480" cy="10728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65760" y="7663529"/>
            <a:ext cx="4023360" cy="840391"/>
            <a:chOff x="0" y="0"/>
            <a:chExt cx="5364480" cy="112052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64480" cy="1120521"/>
            </a:xfrm>
            <a:custGeom>
              <a:avLst/>
              <a:gdLst/>
              <a:ahLst/>
              <a:cxnLst/>
              <a:rect r="r" b="b" t="t" l="l"/>
              <a:pathLst>
                <a:path h="112052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20521"/>
                  </a:lnTo>
                  <a:lnTo>
                    <a:pt x="0" y="11205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4" r="0" b="-4328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364480" cy="1168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F39C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Linear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65760" y="8723376"/>
            <a:ext cx="4023360" cy="804672"/>
            <a:chOff x="0" y="0"/>
            <a:chExt cx="5364480" cy="10728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4480" cy="1072896"/>
            </a:xfrm>
            <a:custGeom>
              <a:avLst/>
              <a:gdLst/>
              <a:ahLst/>
              <a:cxnLst/>
              <a:rect r="r" b="b" t="t" l="l"/>
              <a:pathLst>
                <a:path h="1072896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357" r="0" b="-47356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365760" y="8687657"/>
            <a:ext cx="4023360" cy="840391"/>
            <a:chOff x="0" y="0"/>
            <a:chExt cx="5364480" cy="112052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64480" cy="1120521"/>
            </a:xfrm>
            <a:custGeom>
              <a:avLst/>
              <a:gdLst/>
              <a:ahLst/>
              <a:cxnLst/>
              <a:rect r="r" b="b" t="t" l="l"/>
              <a:pathLst>
                <a:path h="1120521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120521"/>
                  </a:lnTo>
                  <a:lnTo>
                    <a:pt x="0" y="11205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4" r="0" b="-4328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364480" cy="1168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F39C1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Lasso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4559303" y="1651511"/>
            <a:ext cx="12375166" cy="610552"/>
          </a:xfrm>
          <a:custGeom>
            <a:avLst/>
            <a:gdLst/>
            <a:ahLst/>
            <a:cxnLst/>
            <a:rect r="r" b="b" t="t" l="l"/>
            <a:pathLst>
              <a:path h="610552" w="12375166">
                <a:moveTo>
                  <a:pt x="0" y="0"/>
                </a:moveTo>
                <a:lnTo>
                  <a:pt x="12375166" y="0"/>
                </a:lnTo>
                <a:lnTo>
                  <a:pt x="12375166" y="610553"/>
                </a:lnTo>
                <a:lnTo>
                  <a:pt x="0" y="610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559303" y="2675639"/>
            <a:ext cx="12113963" cy="605028"/>
          </a:xfrm>
          <a:custGeom>
            <a:avLst/>
            <a:gdLst/>
            <a:ahLst/>
            <a:cxnLst/>
            <a:rect r="r" b="b" t="t" l="l"/>
            <a:pathLst>
              <a:path h="605028" w="12113963">
                <a:moveTo>
                  <a:pt x="0" y="0"/>
                </a:moveTo>
                <a:lnTo>
                  <a:pt x="12113963" y="0"/>
                </a:lnTo>
                <a:lnTo>
                  <a:pt x="12113963" y="605028"/>
                </a:lnTo>
                <a:lnTo>
                  <a:pt x="0" y="6050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4559303" y="3699767"/>
            <a:ext cx="11996718" cy="606650"/>
          </a:xfrm>
          <a:custGeom>
            <a:avLst/>
            <a:gdLst/>
            <a:ahLst/>
            <a:cxnLst/>
            <a:rect r="r" b="b" t="t" l="l"/>
            <a:pathLst>
              <a:path h="606650" w="11996718">
                <a:moveTo>
                  <a:pt x="0" y="0"/>
                </a:moveTo>
                <a:lnTo>
                  <a:pt x="11996719" y="0"/>
                </a:lnTo>
                <a:lnTo>
                  <a:pt x="11996719" y="606650"/>
                </a:lnTo>
                <a:lnTo>
                  <a:pt x="0" y="606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4559303" y="4723895"/>
            <a:ext cx="11923300" cy="610552"/>
          </a:xfrm>
          <a:custGeom>
            <a:avLst/>
            <a:gdLst/>
            <a:ahLst/>
            <a:cxnLst/>
            <a:rect r="r" b="b" t="t" l="l"/>
            <a:pathLst>
              <a:path h="610552" w="11923300">
                <a:moveTo>
                  <a:pt x="0" y="0"/>
                </a:moveTo>
                <a:lnTo>
                  <a:pt x="11923300" y="0"/>
                </a:lnTo>
                <a:lnTo>
                  <a:pt x="11923300" y="610553"/>
                </a:lnTo>
                <a:lnTo>
                  <a:pt x="0" y="6105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4559303" y="5732201"/>
            <a:ext cx="11923300" cy="626375"/>
          </a:xfrm>
          <a:custGeom>
            <a:avLst/>
            <a:gdLst/>
            <a:ahLst/>
            <a:cxnLst/>
            <a:rect r="r" b="b" t="t" l="l"/>
            <a:pathLst>
              <a:path h="626375" w="11923300">
                <a:moveTo>
                  <a:pt x="0" y="0"/>
                </a:moveTo>
                <a:lnTo>
                  <a:pt x="11923300" y="0"/>
                </a:lnTo>
                <a:lnTo>
                  <a:pt x="11923300" y="626375"/>
                </a:lnTo>
                <a:lnTo>
                  <a:pt x="0" y="6263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4559303" y="6772151"/>
            <a:ext cx="9382611" cy="611833"/>
          </a:xfrm>
          <a:custGeom>
            <a:avLst/>
            <a:gdLst/>
            <a:ahLst/>
            <a:cxnLst/>
            <a:rect r="r" b="b" t="t" l="l"/>
            <a:pathLst>
              <a:path h="611833" w="9382611">
                <a:moveTo>
                  <a:pt x="0" y="0"/>
                </a:moveTo>
                <a:lnTo>
                  <a:pt x="9382611" y="0"/>
                </a:lnTo>
                <a:lnTo>
                  <a:pt x="9382611" y="611833"/>
                </a:lnTo>
                <a:lnTo>
                  <a:pt x="0" y="61183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4559303" y="7796279"/>
            <a:ext cx="9212390" cy="610553"/>
          </a:xfrm>
          <a:custGeom>
            <a:avLst/>
            <a:gdLst/>
            <a:ahLst/>
            <a:cxnLst/>
            <a:rect r="r" b="b" t="t" l="l"/>
            <a:pathLst>
              <a:path h="610553" w="9212390">
                <a:moveTo>
                  <a:pt x="0" y="0"/>
                </a:moveTo>
                <a:lnTo>
                  <a:pt x="9212390" y="0"/>
                </a:lnTo>
                <a:lnTo>
                  <a:pt x="9212390" y="610553"/>
                </a:lnTo>
                <a:lnTo>
                  <a:pt x="0" y="61055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4559303" y="8820407"/>
            <a:ext cx="9212390" cy="610553"/>
          </a:xfrm>
          <a:custGeom>
            <a:avLst/>
            <a:gdLst/>
            <a:ahLst/>
            <a:cxnLst/>
            <a:rect r="r" b="b" t="t" l="l"/>
            <a:pathLst>
              <a:path h="610553" w="9212390">
                <a:moveTo>
                  <a:pt x="0" y="0"/>
                </a:moveTo>
                <a:lnTo>
                  <a:pt x="9212390" y="0"/>
                </a:lnTo>
                <a:lnTo>
                  <a:pt x="9212390" y="610553"/>
                </a:lnTo>
                <a:lnTo>
                  <a:pt x="0" y="61055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7104662" y="1525905"/>
            <a:ext cx="1097280" cy="833247"/>
            <a:chOff x="0" y="0"/>
            <a:chExt cx="1463040" cy="111099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1110996"/>
            </a:xfrm>
            <a:custGeom>
              <a:avLst/>
              <a:gdLst/>
              <a:ahLst/>
              <a:cxnLst/>
              <a:rect r="r" b="b" t="t" l="l"/>
              <a:pathLst>
                <a:path h="11109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430" t="0" r="-4743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46304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0.79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954052" y="2578608"/>
            <a:ext cx="1097280" cy="804672"/>
            <a:chOff x="0" y="0"/>
            <a:chExt cx="1463040" cy="10728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154" t="0" r="-44155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954052" y="2550033"/>
            <a:ext cx="1097280" cy="833247"/>
            <a:chOff x="0" y="0"/>
            <a:chExt cx="1463040" cy="11109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63040" cy="1110996"/>
            </a:xfrm>
            <a:custGeom>
              <a:avLst/>
              <a:gdLst/>
              <a:ahLst/>
              <a:cxnLst/>
              <a:rect r="r" b="b" t="t" l="l"/>
              <a:pathLst>
                <a:path h="11109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430" t="0" r="-47430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46304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0.78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6803443" y="3602736"/>
            <a:ext cx="1097280" cy="804672"/>
            <a:chOff x="0" y="0"/>
            <a:chExt cx="1463040" cy="10728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3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154" t="0" r="-44155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6803443" y="3574161"/>
            <a:ext cx="1097280" cy="833247"/>
            <a:chOff x="0" y="0"/>
            <a:chExt cx="1463040" cy="11109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0" cy="1110996"/>
            </a:xfrm>
            <a:custGeom>
              <a:avLst/>
              <a:gdLst/>
              <a:ahLst/>
              <a:cxnLst/>
              <a:rect r="r" b="b" t="t" l="l"/>
              <a:pathLst>
                <a:path h="11109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430" t="0" r="-47430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46304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0.78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6652834" y="4626864"/>
            <a:ext cx="1097280" cy="804672"/>
            <a:chOff x="0" y="0"/>
            <a:chExt cx="1463040" cy="10728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154" t="0" r="-44155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6652834" y="4598289"/>
            <a:ext cx="1097280" cy="833247"/>
            <a:chOff x="0" y="0"/>
            <a:chExt cx="1463040" cy="11109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" cy="1110996"/>
            </a:xfrm>
            <a:custGeom>
              <a:avLst/>
              <a:gdLst/>
              <a:ahLst/>
              <a:cxnLst/>
              <a:rect r="r" b="b" t="t" l="l"/>
              <a:pathLst>
                <a:path h="11109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430" t="0" r="-47430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46304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0.78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351625" y="5650992"/>
            <a:ext cx="1097280" cy="804672"/>
            <a:chOff x="0" y="0"/>
            <a:chExt cx="1463040" cy="10728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154" t="0" r="-44155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556022" y="5636704"/>
            <a:ext cx="1097280" cy="833247"/>
            <a:chOff x="0" y="0"/>
            <a:chExt cx="1463040" cy="11109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463040" cy="1110996"/>
            </a:xfrm>
            <a:custGeom>
              <a:avLst/>
              <a:gdLst/>
              <a:ahLst/>
              <a:cxnLst/>
              <a:rect r="r" b="b" t="t" l="l"/>
              <a:pathLst>
                <a:path h="11109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430" t="0" r="-47430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46304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0.77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092514" y="6675120"/>
            <a:ext cx="1097280" cy="804672"/>
            <a:chOff x="0" y="0"/>
            <a:chExt cx="1463040" cy="10728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63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154" t="0" r="-44155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4092514" y="6646545"/>
            <a:ext cx="1097280" cy="833247"/>
            <a:chOff x="0" y="0"/>
            <a:chExt cx="1463040" cy="11109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463040" cy="1110996"/>
            </a:xfrm>
            <a:custGeom>
              <a:avLst/>
              <a:gdLst/>
              <a:ahLst/>
              <a:cxnLst/>
              <a:rect r="r" b="b" t="t" l="l"/>
              <a:pathLst>
                <a:path h="11109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430" t="0" r="-47430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46304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0.75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941914" y="7699248"/>
            <a:ext cx="1097280" cy="804672"/>
            <a:chOff x="0" y="0"/>
            <a:chExt cx="1463040" cy="107289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463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154" t="0" r="-44155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941914" y="7670673"/>
            <a:ext cx="1097280" cy="833247"/>
            <a:chOff x="0" y="0"/>
            <a:chExt cx="1463040" cy="11109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63040" cy="1110996"/>
            </a:xfrm>
            <a:custGeom>
              <a:avLst/>
              <a:gdLst/>
              <a:ahLst/>
              <a:cxnLst/>
              <a:rect r="r" b="b" t="t" l="l"/>
              <a:pathLst>
                <a:path h="11109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430" t="0" r="-47430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46304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0.75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941914" y="8723376"/>
            <a:ext cx="1097280" cy="804672"/>
            <a:chOff x="0" y="0"/>
            <a:chExt cx="1463040" cy="10728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4630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154" t="0" r="-44155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941914" y="8694801"/>
            <a:ext cx="1097280" cy="833247"/>
            <a:chOff x="0" y="0"/>
            <a:chExt cx="1463040" cy="11109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463040" cy="1110996"/>
            </a:xfrm>
            <a:custGeom>
              <a:avLst/>
              <a:gdLst/>
              <a:ahLst/>
              <a:cxnLst/>
              <a:rect r="r" b="b" t="t" l="l"/>
              <a:pathLst>
                <a:path h="1110996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10996"/>
                  </a:lnTo>
                  <a:lnTo>
                    <a:pt x="0" y="111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430" t="0" r="-47430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463040" cy="1149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0.75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18313336" cy="1945576"/>
          </a:xfrm>
          <a:custGeom>
            <a:avLst/>
            <a:gdLst/>
            <a:ahLst/>
            <a:cxnLst/>
            <a:rect r="r" b="b" t="t" l="l"/>
            <a:pathLst>
              <a:path h="1945576" w="18313336">
                <a:moveTo>
                  <a:pt x="0" y="0"/>
                </a:moveTo>
                <a:lnTo>
                  <a:pt x="18313337" y="0"/>
                </a:lnTo>
                <a:lnTo>
                  <a:pt x="18313337" y="1945577"/>
                </a:lnTo>
                <a:lnTo>
                  <a:pt x="0" y="1945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274320"/>
            <a:ext cx="16459200" cy="1188720"/>
            <a:chOff x="0" y="0"/>
            <a:chExt cx="21945600" cy="15849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274320"/>
            <a:ext cx="16459200" cy="1188720"/>
            <a:chOff x="0" y="0"/>
            <a:chExt cx="2194560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945600" cy="1584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8"/>
                </a:lnSpc>
              </a:pPr>
              <a:r>
                <a:rPr lang="en-US" sz="5998" b="true">
                  <a:solidFill>
                    <a:srgbClr val="FFD7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Feature Importance (Gradient Boosting)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5760" y="2194560"/>
            <a:ext cx="4572000" cy="1005840"/>
            <a:chOff x="0" y="0"/>
            <a:chExt cx="60960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506" r="0" b="-3850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5760" y="2158841"/>
            <a:ext cx="4572000" cy="1041559"/>
            <a:chOff x="0" y="0"/>
            <a:chExt cx="6096000" cy="13887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96000" cy="1388745"/>
            </a:xfrm>
            <a:custGeom>
              <a:avLst/>
              <a:gdLst/>
              <a:ahLst/>
              <a:cxnLst/>
              <a:rect r="r" b="b" t="t" l="l"/>
              <a:pathLst>
                <a:path h="1388745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531" r="0" b="-3553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0960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Director_Avg_Rating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107943" y="2364743"/>
            <a:ext cx="10083737" cy="665416"/>
          </a:xfrm>
          <a:custGeom>
            <a:avLst/>
            <a:gdLst/>
            <a:ahLst/>
            <a:cxnLst/>
            <a:rect r="r" b="b" t="t" l="l"/>
            <a:pathLst>
              <a:path h="665416" w="10083737">
                <a:moveTo>
                  <a:pt x="0" y="0"/>
                </a:moveTo>
                <a:lnTo>
                  <a:pt x="10083737" y="0"/>
                </a:lnTo>
                <a:lnTo>
                  <a:pt x="1008373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107943" y="2364743"/>
            <a:ext cx="9580816" cy="665416"/>
          </a:xfrm>
          <a:custGeom>
            <a:avLst/>
            <a:gdLst/>
            <a:ahLst/>
            <a:cxnLst/>
            <a:rect r="r" b="b" t="t" l="l"/>
            <a:pathLst>
              <a:path h="665416" w="9580816">
                <a:moveTo>
                  <a:pt x="0" y="0"/>
                </a:moveTo>
                <a:lnTo>
                  <a:pt x="9580817" y="0"/>
                </a:lnTo>
                <a:lnTo>
                  <a:pt x="958081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688826" y="2158841"/>
            <a:ext cx="748484" cy="1041559"/>
            <a:chOff x="0" y="0"/>
            <a:chExt cx="997979" cy="13887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7976" cy="1388745"/>
            </a:xfrm>
            <a:custGeom>
              <a:avLst/>
              <a:gdLst/>
              <a:ahLst/>
              <a:cxnLst/>
              <a:rect r="r" b="b" t="t" l="l"/>
              <a:pathLst>
                <a:path h="1388745" w="997976">
                  <a:moveTo>
                    <a:pt x="0" y="0"/>
                  </a:moveTo>
                  <a:lnTo>
                    <a:pt x="997976" y="0"/>
                  </a:lnTo>
                  <a:lnTo>
                    <a:pt x="997976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28542" t="0" r="-12854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97979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38%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5760" y="3035808"/>
            <a:ext cx="17373600" cy="402336"/>
            <a:chOff x="0" y="0"/>
            <a:chExt cx="23164800" cy="536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164800" cy="536448"/>
            </a:xfrm>
            <a:custGeom>
              <a:avLst/>
              <a:gdLst/>
              <a:ahLst/>
              <a:cxnLst/>
              <a:rect r="r" b="b" t="t" l="l"/>
              <a:pathLst>
                <a:path h="5364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0814" r="0" b="-7908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65760" y="3007233"/>
            <a:ext cx="17373600" cy="430911"/>
            <a:chOff x="0" y="0"/>
            <a:chExt cx="23164800" cy="5745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164800" cy="574548"/>
            </a:xfrm>
            <a:custGeom>
              <a:avLst/>
              <a:gdLst/>
              <a:ahLst/>
              <a:cxnLst/>
              <a:rect r="r" b="b" t="t" l="l"/>
              <a:pathLst>
                <a:path h="5745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5603" r="0" b="-73560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316480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Most impactful! A director's track record strongly predicts quality.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760" y="3474720"/>
            <a:ext cx="4572000" cy="1005840"/>
            <a:chOff x="0" y="0"/>
            <a:chExt cx="609600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506" r="0" b="-3850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65760" y="3439001"/>
            <a:ext cx="4572000" cy="1041559"/>
            <a:chOff x="0" y="0"/>
            <a:chExt cx="6096000" cy="13887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6000" cy="1388745"/>
            </a:xfrm>
            <a:custGeom>
              <a:avLst/>
              <a:gdLst/>
              <a:ahLst/>
              <a:cxnLst/>
              <a:rect r="r" b="b" t="t" l="l"/>
              <a:pathLst>
                <a:path h="1388745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531" r="0" b="-3553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0960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Meta_score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107943" y="3644903"/>
            <a:ext cx="10083737" cy="665416"/>
          </a:xfrm>
          <a:custGeom>
            <a:avLst/>
            <a:gdLst/>
            <a:ahLst/>
            <a:cxnLst/>
            <a:rect r="r" b="b" t="t" l="l"/>
            <a:pathLst>
              <a:path h="665416" w="10083737">
                <a:moveTo>
                  <a:pt x="0" y="0"/>
                </a:moveTo>
                <a:lnTo>
                  <a:pt x="10083737" y="0"/>
                </a:lnTo>
                <a:lnTo>
                  <a:pt x="1008373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107943" y="3644903"/>
            <a:ext cx="7066216" cy="665416"/>
          </a:xfrm>
          <a:custGeom>
            <a:avLst/>
            <a:gdLst/>
            <a:ahLst/>
            <a:cxnLst/>
            <a:rect r="r" b="b" t="t" l="l"/>
            <a:pathLst>
              <a:path h="665416" w="7066216">
                <a:moveTo>
                  <a:pt x="0" y="0"/>
                </a:moveTo>
                <a:lnTo>
                  <a:pt x="7066217" y="0"/>
                </a:lnTo>
                <a:lnTo>
                  <a:pt x="706621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2344400" y="3474720"/>
            <a:ext cx="1005840" cy="1005840"/>
            <a:chOff x="0" y="0"/>
            <a:chExt cx="1341120" cy="1341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344400" y="3439001"/>
            <a:ext cx="1005840" cy="1041559"/>
            <a:chOff x="0" y="0"/>
            <a:chExt cx="1341120" cy="13887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1388745"/>
            </a:xfrm>
            <a:custGeom>
              <a:avLst/>
              <a:gdLst/>
              <a:ahLst/>
              <a:cxnLst/>
              <a:rect r="r" b="b" t="t" l="l"/>
              <a:pathLst>
                <a:path h="138874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859" t="0" r="-8285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34112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28%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5760" y="4315968"/>
            <a:ext cx="17373600" cy="402336"/>
            <a:chOff x="0" y="0"/>
            <a:chExt cx="23164800" cy="5364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164800" cy="536448"/>
            </a:xfrm>
            <a:custGeom>
              <a:avLst/>
              <a:gdLst/>
              <a:ahLst/>
              <a:cxnLst/>
              <a:rect r="r" b="b" t="t" l="l"/>
              <a:pathLst>
                <a:path h="5364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0814" r="0" b="-790814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65760" y="4287393"/>
            <a:ext cx="17373600" cy="430911"/>
            <a:chOff x="0" y="0"/>
            <a:chExt cx="23164800" cy="5745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3164800" cy="574548"/>
            </a:xfrm>
            <a:custGeom>
              <a:avLst/>
              <a:gdLst/>
              <a:ahLst/>
              <a:cxnLst/>
              <a:rect r="r" b="b" t="t" l="l"/>
              <a:pathLst>
                <a:path h="5745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5603" r="0" b="-73560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316480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Expert critic scores closely correlate with audience ratings.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65760" y="4754880"/>
            <a:ext cx="4572000" cy="1005840"/>
            <a:chOff x="0" y="0"/>
            <a:chExt cx="6096000" cy="1341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506" r="0" b="-38506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65760" y="4719161"/>
            <a:ext cx="4572000" cy="1041559"/>
            <a:chOff x="0" y="0"/>
            <a:chExt cx="6096000" cy="138874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00" cy="1388745"/>
            </a:xfrm>
            <a:custGeom>
              <a:avLst/>
              <a:gdLst/>
              <a:ahLst/>
              <a:cxnLst/>
              <a:rect r="r" b="b" t="t" l="l"/>
              <a:pathLst>
                <a:path h="1388745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531" r="0" b="-3553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0960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Genre_Avg_Rating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5107943" y="4925063"/>
            <a:ext cx="10083737" cy="665416"/>
          </a:xfrm>
          <a:custGeom>
            <a:avLst/>
            <a:gdLst/>
            <a:ahLst/>
            <a:cxnLst/>
            <a:rect r="r" b="b" t="t" l="l"/>
            <a:pathLst>
              <a:path h="665416" w="10083737">
                <a:moveTo>
                  <a:pt x="0" y="0"/>
                </a:moveTo>
                <a:lnTo>
                  <a:pt x="10083737" y="0"/>
                </a:lnTo>
                <a:lnTo>
                  <a:pt x="1008373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107943" y="4925063"/>
            <a:ext cx="4300156" cy="665416"/>
          </a:xfrm>
          <a:custGeom>
            <a:avLst/>
            <a:gdLst/>
            <a:ahLst/>
            <a:cxnLst/>
            <a:rect r="r" b="b" t="t" l="l"/>
            <a:pathLst>
              <a:path h="665416" w="4300156">
                <a:moveTo>
                  <a:pt x="0" y="0"/>
                </a:moveTo>
                <a:lnTo>
                  <a:pt x="4300157" y="0"/>
                </a:lnTo>
                <a:lnTo>
                  <a:pt x="430015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9578340" y="4719161"/>
            <a:ext cx="1005840" cy="1041559"/>
            <a:chOff x="0" y="0"/>
            <a:chExt cx="1341120" cy="138874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" cy="1388745"/>
            </a:xfrm>
            <a:custGeom>
              <a:avLst/>
              <a:gdLst/>
              <a:ahLst/>
              <a:cxnLst/>
              <a:rect r="r" b="b" t="t" l="l"/>
              <a:pathLst>
                <a:path h="138874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859" t="0" r="-82859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34112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65760" y="5596128"/>
            <a:ext cx="17373600" cy="402336"/>
            <a:chOff x="0" y="0"/>
            <a:chExt cx="23164800" cy="53644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164800" cy="536448"/>
            </a:xfrm>
            <a:custGeom>
              <a:avLst/>
              <a:gdLst/>
              <a:ahLst/>
              <a:cxnLst/>
              <a:rect r="r" b="b" t="t" l="l"/>
              <a:pathLst>
                <a:path h="5364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0814" r="0" b="-790814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365760" y="5567553"/>
            <a:ext cx="17373600" cy="430911"/>
            <a:chOff x="0" y="0"/>
            <a:chExt cx="23164800" cy="5745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3164800" cy="574548"/>
            </a:xfrm>
            <a:custGeom>
              <a:avLst/>
              <a:gdLst/>
              <a:ahLst/>
              <a:cxnLst/>
              <a:rect r="r" b="b" t="t" l="l"/>
              <a:pathLst>
                <a:path h="5745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5603" r="0" b="-73560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316480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Genre baseline expectations influence perceived quality.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65760" y="6035040"/>
            <a:ext cx="4572000" cy="1005840"/>
            <a:chOff x="0" y="0"/>
            <a:chExt cx="6096000" cy="13411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506" r="0" b="-38506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365760" y="5999321"/>
            <a:ext cx="4572000" cy="1041559"/>
            <a:chOff x="0" y="0"/>
            <a:chExt cx="6096000" cy="138874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096000" cy="1388745"/>
            </a:xfrm>
            <a:custGeom>
              <a:avLst/>
              <a:gdLst/>
              <a:ahLst/>
              <a:cxnLst/>
              <a:rect r="r" b="b" t="t" l="l"/>
              <a:pathLst>
                <a:path h="1388745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531" r="0" b="-3553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0960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Log_Votes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5107943" y="6205223"/>
            <a:ext cx="10083737" cy="665416"/>
          </a:xfrm>
          <a:custGeom>
            <a:avLst/>
            <a:gdLst/>
            <a:ahLst/>
            <a:cxnLst/>
            <a:rect r="r" b="b" t="t" l="l"/>
            <a:pathLst>
              <a:path h="665416" w="10083737">
                <a:moveTo>
                  <a:pt x="0" y="0"/>
                </a:moveTo>
                <a:lnTo>
                  <a:pt x="10083737" y="0"/>
                </a:lnTo>
                <a:lnTo>
                  <a:pt x="1008373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5107943" y="6205223"/>
            <a:ext cx="2539936" cy="665416"/>
          </a:xfrm>
          <a:custGeom>
            <a:avLst/>
            <a:gdLst/>
            <a:ahLst/>
            <a:cxnLst/>
            <a:rect r="r" b="b" t="t" l="l"/>
            <a:pathLst>
              <a:path h="665416" w="2539936">
                <a:moveTo>
                  <a:pt x="0" y="0"/>
                </a:moveTo>
                <a:lnTo>
                  <a:pt x="2539937" y="0"/>
                </a:lnTo>
                <a:lnTo>
                  <a:pt x="253993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7818120" y="5999321"/>
            <a:ext cx="1005840" cy="1041559"/>
            <a:chOff x="0" y="0"/>
            <a:chExt cx="1341120" cy="138874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1120" cy="1388745"/>
            </a:xfrm>
            <a:custGeom>
              <a:avLst/>
              <a:gdLst/>
              <a:ahLst/>
              <a:cxnLst/>
              <a:rect r="r" b="b" t="t" l="l"/>
              <a:pathLst>
                <a:path h="138874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859" t="0" r="-82859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34112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39C1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10%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65760" y="6876288"/>
            <a:ext cx="17373600" cy="402336"/>
            <a:chOff x="0" y="0"/>
            <a:chExt cx="23164800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3164800" cy="536448"/>
            </a:xfrm>
            <a:custGeom>
              <a:avLst/>
              <a:gdLst/>
              <a:ahLst/>
              <a:cxnLst/>
              <a:rect r="r" b="b" t="t" l="l"/>
              <a:pathLst>
                <a:path h="5364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0814" r="0" b="-790814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365760" y="6847713"/>
            <a:ext cx="17373600" cy="430911"/>
            <a:chOff x="0" y="0"/>
            <a:chExt cx="23164800" cy="5745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164800" cy="574548"/>
            </a:xfrm>
            <a:custGeom>
              <a:avLst/>
              <a:gdLst/>
              <a:ahLst/>
              <a:cxnLst/>
              <a:rect r="r" b="b" t="t" l="l"/>
              <a:pathLst>
                <a:path h="5745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5603" r="0" b="-73560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316480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Popularity (log votes) is a moderate signal for quality.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365760" y="7315200"/>
            <a:ext cx="4572000" cy="1005840"/>
            <a:chOff x="0" y="0"/>
            <a:chExt cx="6096000" cy="13411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506" r="0" b="-38506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365760" y="7279481"/>
            <a:ext cx="4572000" cy="1041559"/>
            <a:chOff x="0" y="0"/>
            <a:chExt cx="6096000" cy="138874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96000" cy="1388745"/>
            </a:xfrm>
            <a:custGeom>
              <a:avLst/>
              <a:gdLst/>
              <a:ahLst/>
              <a:cxnLst/>
              <a:rect r="r" b="b" t="t" l="l"/>
              <a:pathLst>
                <a:path h="1388745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531" r="0" b="-3553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0960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Runtime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5107943" y="7485383"/>
            <a:ext cx="10083737" cy="665416"/>
          </a:xfrm>
          <a:custGeom>
            <a:avLst/>
            <a:gdLst/>
            <a:ahLst/>
            <a:cxnLst/>
            <a:rect r="r" b="b" t="t" l="l"/>
            <a:pathLst>
              <a:path h="665416" w="10083737">
                <a:moveTo>
                  <a:pt x="0" y="0"/>
                </a:moveTo>
                <a:lnTo>
                  <a:pt x="10083737" y="0"/>
                </a:lnTo>
                <a:lnTo>
                  <a:pt x="1008373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5107943" y="7485383"/>
            <a:ext cx="1031176" cy="665416"/>
          </a:xfrm>
          <a:custGeom>
            <a:avLst/>
            <a:gdLst/>
            <a:ahLst/>
            <a:cxnLst/>
            <a:rect r="r" b="b" t="t" l="l"/>
            <a:pathLst>
              <a:path h="665416" w="1031176">
                <a:moveTo>
                  <a:pt x="0" y="0"/>
                </a:moveTo>
                <a:lnTo>
                  <a:pt x="1031177" y="0"/>
                </a:lnTo>
                <a:lnTo>
                  <a:pt x="103117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6309360" y="7315200"/>
            <a:ext cx="1005840" cy="1005840"/>
            <a:chOff x="0" y="0"/>
            <a:chExt cx="1341120" cy="13411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309360" y="7279481"/>
            <a:ext cx="1005840" cy="1041559"/>
            <a:chOff x="0" y="0"/>
            <a:chExt cx="1341120" cy="138874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341120" cy="1388745"/>
            </a:xfrm>
            <a:custGeom>
              <a:avLst/>
              <a:gdLst/>
              <a:ahLst/>
              <a:cxnLst/>
              <a:rect r="r" b="b" t="t" l="l"/>
              <a:pathLst>
                <a:path h="138874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859" t="0" r="-82859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34112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60A5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4%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365760" y="8156448"/>
            <a:ext cx="17373600" cy="402336"/>
            <a:chOff x="0" y="0"/>
            <a:chExt cx="23164800" cy="53644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3164800" cy="536448"/>
            </a:xfrm>
            <a:custGeom>
              <a:avLst/>
              <a:gdLst/>
              <a:ahLst/>
              <a:cxnLst/>
              <a:rect r="r" b="b" t="t" l="l"/>
              <a:pathLst>
                <a:path h="5364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0814" r="0" b="-790814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365760" y="8127873"/>
            <a:ext cx="17373600" cy="430911"/>
            <a:chOff x="0" y="0"/>
            <a:chExt cx="23164800" cy="57454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3164800" cy="574548"/>
            </a:xfrm>
            <a:custGeom>
              <a:avLst/>
              <a:gdLst/>
              <a:ahLst/>
              <a:cxnLst/>
              <a:rect r="r" b="b" t="t" l="l"/>
              <a:pathLst>
                <a:path h="5745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5603" r="0" b="-73560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316480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Longer films slightly trend toward higher ratings.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65760" y="8595360"/>
            <a:ext cx="4572000" cy="1005840"/>
            <a:chOff x="0" y="0"/>
            <a:chExt cx="6096000" cy="13411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0960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506" r="0" b="-38506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365760" y="8559641"/>
            <a:ext cx="4572000" cy="1041559"/>
            <a:chOff x="0" y="0"/>
            <a:chExt cx="6096000" cy="138874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096000" cy="1388745"/>
            </a:xfrm>
            <a:custGeom>
              <a:avLst/>
              <a:gdLst/>
              <a:ahLst/>
              <a:cxnLst/>
              <a:rect r="r" b="b" t="t" l="l"/>
              <a:pathLst>
                <a:path h="1388745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531" r="0" b="-3553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609600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Log_Gross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5107943" y="8765543"/>
            <a:ext cx="10083737" cy="665416"/>
          </a:xfrm>
          <a:custGeom>
            <a:avLst/>
            <a:gdLst/>
            <a:ahLst/>
            <a:cxnLst/>
            <a:rect r="r" b="b" t="t" l="l"/>
            <a:pathLst>
              <a:path h="665416" w="10083737">
                <a:moveTo>
                  <a:pt x="0" y="0"/>
                </a:moveTo>
                <a:lnTo>
                  <a:pt x="10083737" y="0"/>
                </a:lnTo>
                <a:lnTo>
                  <a:pt x="1008373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5107943" y="8765543"/>
            <a:ext cx="779716" cy="665416"/>
          </a:xfrm>
          <a:custGeom>
            <a:avLst/>
            <a:gdLst/>
            <a:ahLst/>
            <a:cxnLst/>
            <a:rect r="r" b="b" t="t" l="l"/>
            <a:pathLst>
              <a:path h="665416" w="779716">
                <a:moveTo>
                  <a:pt x="0" y="0"/>
                </a:moveTo>
                <a:lnTo>
                  <a:pt x="779717" y="0"/>
                </a:lnTo>
                <a:lnTo>
                  <a:pt x="77971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6057900" y="8595360"/>
            <a:ext cx="1005840" cy="1005840"/>
            <a:chOff x="0" y="0"/>
            <a:chExt cx="1341120" cy="134112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057900" y="8559641"/>
            <a:ext cx="1005840" cy="1041559"/>
            <a:chOff x="0" y="0"/>
            <a:chExt cx="1341120" cy="138874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341120" cy="1388745"/>
            </a:xfrm>
            <a:custGeom>
              <a:avLst/>
              <a:gdLst/>
              <a:ahLst/>
              <a:cxnLst/>
              <a:rect r="r" b="b" t="t" l="l"/>
              <a:pathLst>
                <a:path h="138874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2859" t="0" r="-82859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134112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3%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365760" y="9436608"/>
            <a:ext cx="17373600" cy="402336"/>
            <a:chOff x="0" y="0"/>
            <a:chExt cx="23164800" cy="53644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3164800" cy="536448"/>
            </a:xfrm>
            <a:custGeom>
              <a:avLst/>
              <a:gdLst/>
              <a:ahLst/>
              <a:cxnLst/>
              <a:rect r="r" b="b" t="t" l="l"/>
              <a:pathLst>
                <a:path h="5364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0814" r="0" b="-790814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365760" y="9408033"/>
            <a:ext cx="17373600" cy="430911"/>
            <a:chOff x="0" y="0"/>
            <a:chExt cx="23164800" cy="5745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3164800" cy="574548"/>
            </a:xfrm>
            <a:custGeom>
              <a:avLst/>
              <a:gdLst/>
              <a:ahLst/>
              <a:cxnLst/>
              <a:rect r="r" b="b" t="t" l="l"/>
              <a:pathLst>
                <a:path h="5745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5603" r="0" b="-73560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316480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Box office earnings have weakest predictive power.</a:t>
              </a:r>
            </a:p>
          </p:txBody>
        </p:sp>
      </p:grpSp>
      <p:sp>
        <p:nvSpPr>
          <p:cNvPr name="Freeform 104" id="104"/>
          <p:cNvSpPr/>
          <p:nvPr/>
        </p:nvSpPr>
        <p:spPr>
          <a:xfrm flipH="false" flipV="false" rot="0">
            <a:off x="914400" y="1368038"/>
            <a:ext cx="16484537" cy="98488"/>
          </a:xfrm>
          <a:custGeom>
            <a:avLst/>
            <a:gdLst/>
            <a:ahLst/>
            <a:cxnLst/>
            <a:rect r="r" b="b" t="t" l="l"/>
            <a:pathLst>
              <a:path h="98488" w="16484537">
                <a:moveTo>
                  <a:pt x="0" y="0"/>
                </a:moveTo>
                <a:lnTo>
                  <a:pt x="16484536" y="0"/>
                </a:lnTo>
                <a:lnTo>
                  <a:pt x="16484536" y="98488"/>
                </a:lnTo>
                <a:lnTo>
                  <a:pt x="0" y="9848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186442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347" r="0" b="-2003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79299"/>
            <a:ext cx="16459200" cy="1287304"/>
            <a:chOff x="0" y="0"/>
            <a:chExt cx="21945600" cy="17164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716405"/>
            </a:xfrm>
            <a:custGeom>
              <a:avLst/>
              <a:gdLst/>
              <a:ahLst/>
              <a:cxnLst/>
              <a:rect r="r" b="b" t="t" l="l"/>
              <a:pathLst>
                <a:path h="17164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16405"/>
                  </a:lnTo>
                  <a:lnTo>
                    <a:pt x="0" y="1716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131" r="0" b="-19913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94560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D7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Takeaways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44503" y="1998983"/>
            <a:ext cx="5694616" cy="3500056"/>
          </a:xfrm>
          <a:custGeom>
            <a:avLst/>
            <a:gdLst/>
            <a:ahLst/>
            <a:cxnLst/>
            <a:rect r="r" b="b" t="t" l="l"/>
            <a:pathLst>
              <a:path h="3500056" w="5694616">
                <a:moveTo>
                  <a:pt x="0" y="0"/>
                </a:moveTo>
                <a:lnTo>
                  <a:pt x="5694617" y="0"/>
                </a:lnTo>
                <a:lnTo>
                  <a:pt x="5694617" y="3500057"/>
                </a:lnTo>
                <a:lnTo>
                  <a:pt x="0" y="3500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4503" y="1998983"/>
            <a:ext cx="5694616" cy="153352"/>
          </a:xfrm>
          <a:custGeom>
            <a:avLst/>
            <a:gdLst/>
            <a:ahLst/>
            <a:cxnLst/>
            <a:rect r="r" b="b" t="t" l="l"/>
            <a:pathLst>
              <a:path h="153352" w="5694616">
                <a:moveTo>
                  <a:pt x="0" y="0"/>
                </a:moveTo>
                <a:lnTo>
                  <a:pt x="5694617" y="0"/>
                </a:lnTo>
                <a:lnTo>
                  <a:pt x="569461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40080" y="2246376"/>
            <a:ext cx="4297680" cy="822960"/>
            <a:chOff x="0" y="0"/>
            <a:chExt cx="573024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84" r="0" b="-5168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2210657"/>
            <a:ext cx="4297680" cy="858679"/>
            <a:chOff x="0" y="0"/>
            <a:chExt cx="5730240" cy="11449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30240" cy="1144905"/>
            </a:xfrm>
            <a:custGeom>
              <a:avLst/>
              <a:gdLst/>
              <a:ahLst/>
              <a:cxnLst/>
              <a:rect r="r" b="b" t="t" l="l"/>
              <a:pathLst>
                <a:path h="1144905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22" r="0" b="-4752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73024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Data Fusion Matters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3145536"/>
            <a:ext cx="5303520" cy="2103120"/>
            <a:chOff x="0" y="0"/>
            <a:chExt cx="7071360" cy="2804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71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" y="3116961"/>
            <a:ext cx="5303520" cy="2131695"/>
            <a:chOff x="0" y="0"/>
            <a:chExt cx="7071360" cy="28422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71360" cy="2842260"/>
            </a:xfrm>
            <a:custGeom>
              <a:avLst/>
              <a:gdLst/>
              <a:ahLst/>
              <a:cxnLst/>
              <a:rect r="r" b="b" t="t" l="l"/>
              <a:pathLst>
                <a:path h="28422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42260"/>
                  </a:lnTo>
                  <a:lnTo>
                    <a:pt x="0" y="2842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0" t="0" r="-157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071360" cy="2880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Combining two IMDB datasets gave significantly more training signal than either alone, improving generalization.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388103" y="1998983"/>
            <a:ext cx="5694616" cy="3500056"/>
          </a:xfrm>
          <a:custGeom>
            <a:avLst/>
            <a:gdLst/>
            <a:ahLst/>
            <a:cxnLst/>
            <a:rect r="r" b="b" t="t" l="l"/>
            <a:pathLst>
              <a:path h="3500056" w="5694616">
                <a:moveTo>
                  <a:pt x="0" y="0"/>
                </a:moveTo>
                <a:lnTo>
                  <a:pt x="5694617" y="0"/>
                </a:lnTo>
                <a:lnTo>
                  <a:pt x="5694617" y="3500057"/>
                </a:lnTo>
                <a:lnTo>
                  <a:pt x="0" y="3500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388103" y="1998983"/>
            <a:ext cx="5694616" cy="153352"/>
          </a:xfrm>
          <a:custGeom>
            <a:avLst/>
            <a:gdLst/>
            <a:ahLst/>
            <a:cxnLst/>
            <a:rect r="r" b="b" t="t" l="l"/>
            <a:pathLst>
              <a:path h="153352" w="5694616">
                <a:moveTo>
                  <a:pt x="0" y="0"/>
                </a:moveTo>
                <a:lnTo>
                  <a:pt x="5694617" y="0"/>
                </a:lnTo>
                <a:lnTo>
                  <a:pt x="569461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711686" y="2246376"/>
            <a:ext cx="4297680" cy="822960"/>
            <a:chOff x="0" y="0"/>
            <a:chExt cx="573024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84" r="0" b="-516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11686" y="2210657"/>
            <a:ext cx="4297680" cy="858679"/>
            <a:chOff x="0" y="0"/>
            <a:chExt cx="5730240" cy="11449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30240" cy="1144905"/>
            </a:xfrm>
            <a:custGeom>
              <a:avLst/>
              <a:gdLst/>
              <a:ahLst/>
              <a:cxnLst/>
              <a:rect r="r" b="b" t="t" l="l"/>
              <a:pathLst>
                <a:path h="1144905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22" r="0" b="-4752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73024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Feature Engineering is Key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83680" y="3145536"/>
            <a:ext cx="5303520" cy="2103120"/>
            <a:chOff x="0" y="0"/>
            <a:chExt cx="7071360" cy="2804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71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83680" y="3116961"/>
            <a:ext cx="5303520" cy="2131695"/>
            <a:chOff x="0" y="0"/>
            <a:chExt cx="7071360" cy="28422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71360" cy="2842260"/>
            </a:xfrm>
            <a:custGeom>
              <a:avLst/>
              <a:gdLst/>
              <a:ahLst/>
              <a:cxnLst/>
              <a:rect r="r" b="b" t="t" l="l"/>
              <a:pathLst>
                <a:path h="28422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42260"/>
                  </a:lnTo>
                  <a:lnTo>
                    <a:pt x="0" y="2842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0" t="0" r="-157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071360" cy="2880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Engineered features (Director_Avg_Rating, Genre_Avg_Rating, Log transforms) were more predictive than raw features.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2331703" y="1998983"/>
            <a:ext cx="5694617" cy="3500056"/>
          </a:xfrm>
          <a:custGeom>
            <a:avLst/>
            <a:gdLst/>
            <a:ahLst/>
            <a:cxnLst/>
            <a:rect r="r" b="b" t="t" l="l"/>
            <a:pathLst>
              <a:path h="3500056" w="5694617">
                <a:moveTo>
                  <a:pt x="0" y="0"/>
                </a:moveTo>
                <a:lnTo>
                  <a:pt x="5694617" y="0"/>
                </a:lnTo>
                <a:lnTo>
                  <a:pt x="5694617" y="3500057"/>
                </a:lnTo>
                <a:lnTo>
                  <a:pt x="0" y="3500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331703" y="1998983"/>
            <a:ext cx="5694617" cy="153352"/>
          </a:xfrm>
          <a:custGeom>
            <a:avLst/>
            <a:gdLst/>
            <a:ahLst/>
            <a:cxnLst/>
            <a:rect r="r" b="b" t="t" l="l"/>
            <a:pathLst>
              <a:path h="153352" w="5694617">
                <a:moveTo>
                  <a:pt x="0" y="0"/>
                </a:moveTo>
                <a:lnTo>
                  <a:pt x="5694617" y="0"/>
                </a:lnTo>
                <a:lnTo>
                  <a:pt x="569461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2527280" y="2246376"/>
            <a:ext cx="4297680" cy="822960"/>
            <a:chOff x="0" y="0"/>
            <a:chExt cx="573024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84" r="0" b="-5168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527280" y="2210657"/>
            <a:ext cx="4297680" cy="858679"/>
            <a:chOff x="0" y="0"/>
            <a:chExt cx="5730240" cy="114490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30240" cy="1144905"/>
            </a:xfrm>
            <a:custGeom>
              <a:avLst/>
              <a:gdLst/>
              <a:ahLst/>
              <a:cxnLst/>
              <a:rect r="r" b="b" t="t" l="l"/>
              <a:pathLst>
                <a:path h="1144905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22" r="0" b="-4752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573024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Ensemble Methods Win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527280" y="3145536"/>
            <a:ext cx="5303520" cy="2103120"/>
            <a:chOff x="0" y="0"/>
            <a:chExt cx="7071360" cy="2804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71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527280" y="3116961"/>
            <a:ext cx="5303520" cy="2131695"/>
            <a:chOff x="0" y="0"/>
            <a:chExt cx="7071360" cy="28422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71360" cy="2842260"/>
            </a:xfrm>
            <a:custGeom>
              <a:avLst/>
              <a:gdLst/>
              <a:ahLst/>
              <a:cxnLst/>
              <a:rect r="r" b="b" t="t" l="l"/>
              <a:pathLst>
                <a:path h="28422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42260"/>
                  </a:lnTo>
                  <a:lnTo>
                    <a:pt x="0" y="2842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0" t="0" r="-157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071360" cy="2880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&amp; Gradient Boosting far outperformed linear models. Tuning with GridSearchCV added further gains.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444503" y="5839463"/>
            <a:ext cx="5694616" cy="3500057"/>
          </a:xfrm>
          <a:custGeom>
            <a:avLst/>
            <a:gdLst/>
            <a:ahLst/>
            <a:cxnLst/>
            <a:rect r="r" b="b" t="t" l="l"/>
            <a:pathLst>
              <a:path h="3500057" w="5694616">
                <a:moveTo>
                  <a:pt x="0" y="0"/>
                </a:moveTo>
                <a:lnTo>
                  <a:pt x="5694617" y="0"/>
                </a:lnTo>
                <a:lnTo>
                  <a:pt x="5694617" y="3500057"/>
                </a:lnTo>
                <a:lnTo>
                  <a:pt x="0" y="3500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44503" y="5839463"/>
            <a:ext cx="5694616" cy="153352"/>
          </a:xfrm>
          <a:custGeom>
            <a:avLst/>
            <a:gdLst/>
            <a:ahLst/>
            <a:cxnLst/>
            <a:rect r="r" b="b" t="t" l="l"/>
            <a:pathLst>
              <a:path h="153352" w="5694616">
                <a:moveTo>
                  <a:pt x="0" y="0"/>
                </a:moveTo>
                <a:lnTo>
                  <a:pt x="5694617" y="0"/>
                </a:lnTo>
                <a:lnTo>
                  <a:pt x="569461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642623" y="6071616"/>
            <a:ext cx="4297680" cy="822960"/>
            <a:chOff x="0" y="0"/>
            <a:chExt cx="573024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84" r="0" b="-51685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42623" y="6035897"/>
            <a:ext cx="4297680" cy="858679"/>
            <a:chOff x="0" y="0"/>
            <a:chExt cx="5730240" cy="114490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30240" cy="1144905"/>
            </a:xfrm>
            <a:custGeom>
              <a:avLst/>
              <a:gdLst/>
              <a:ahLst/>
              <a:cxnLst/>
              <a:rect r="r" b="b" t="t" l="l"/>
              <a:pathLst>
                <a:path h="1144905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22" r="0" b="-4752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73024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Model: Tuned GBR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40080" y="6986016"/>
            <a:ext cx="5303520" cy="2103120"/>
            <a:chOff x="0" y="0"/>
            <a:chExt cx="7071360" cy="2804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71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40080" y="6957441"/>
            <a:ext cx="5303520" cy="2131695"/>
            <a:chOff x="0" y="0"/>
            <a:chExt cx="7071360" cy="28422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71360" cy="2842260"/>
            </a:xfrm>
            <a:custGeom>
              <a:avLst/>
              <a:gdLst/>
              <a:ahLst/>
              <a:cxnLst/>
              <a:rect r="r" b="b" t="t" l="l"/>
              <a:pathLst>
                <a:path h="28422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42260"/>
                  </a:lnTo>
                  <a:lnTo>
                    <a:pt x="0" y="2842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0" t="0" r="-157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071360" cy="2880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Tuned Gradient Boosting achieved the highest R² (~0.82), lowest RMSE (~0.28) and MAE (~0.20) on the test set.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6388103" y="5839463"/>
            <a:ext cx="5694616" cy="3500057"/>
          </a:xfrm>
          <a:custGeom>
            <a:avLst/>
            <a:gdLst/>
            <a:ahLst/>
            <a:cxnLst/>
            <a:rect r="r" b="b" t="t" l="l"/>
            <a:pathLst>
              <a:path h="3500057" w="5694616">
                <a:moveTo>
                  <a:pt x="0" y="0"/>
                </a:moveTo>
                <a:lnTo>
                  <a:pt x="5694617" y="0"/>
                </a:lnTo>
                <a:lnTo>
                  <a:pt x="5694617" y="3500057"/>
                </a:lnTo>
                <a:lnTo>
                  <a:pt x="0" y="3500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6388103" y="5839463"/>
            <a:ext cx="5694616" cy="153352"/>
          </a:xfrm>
          <a:custGeom>
            <a:avLst/>
            <a:gdLst/>
            <a:ahLst/>
            <a:cxnLst/>
            <a:rect r="r" b="b" t="t" l="l"/>
            <a:pathLst>
              <a:path h="153352" w="5694616">
                <a:moveTo>
                  <a:pt x="0" y="0"/>
                </a:moveTo>
                <a:lnTo>
                  <a:pt x="5694617" y="0"/>
                </a:lnTo>
                <a:lnTo>
                  <a:pt x="569461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6711686" y="6071616"/>
            <a:ext cx="4297680" cy="822960"/>
            <a:chOff x="0" y="0"/>
            <a:chExt cx="573024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84" r="0" b="-51685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711686" y="6035897"/>
            <a:ext cx="4297680" cy="858679"/>
            <a:chOff x="0" y="0"/>
            <a:chExt cx="5730240" cy="114490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30240" cy="1144905"/>
            </a:xfrm>
            <a:custGeom>
              <a:avLst/>
              <a:gdLst/>
              <a:ahLst/>
              <a:cxnLst/>
              <a:rect r="r" b="b" t="t" l="l"/>
              <a:pathLst>
                <a:path h="1144905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22" r="0" b="-4752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573024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Director Is Strongest Signal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583680" y="6986016"/>
            <a:ext cx="5303520" cy="2103120"/>
            <a:chOff x="0" y="0"/>
            <a:chExt cx="7071360" cy="28041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71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583680" y="6957441"/>
            <a:ext cx="5303520" cy="2131695"/>
            <a:chOff x="0" y="0"/>
            <a:chExt cx="7071360" cy="28422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071360" cy="2842260"/>
            </a:xfrm>
            <a:custGeom>
              <a:avLst/>
              <a:gdLst/>
              <a:ahLst/>
              <a:cxnLst/>
              <a:rect r="r" b="b" t="t" l="l"/>
              <a:pathLst>
                <a:path h="28422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42260"/>
                  </a:lnTo>
                  <a:lnTo>
                    <a:pt x="0" y="2842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0" t="0" r="-1570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7071360" cy="2880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importance analysis reveals Director_Avg_Rating (38%) as the single most predictive feature for IMDB ratings.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2331703" y="5839463"/>
            <a:ext cx="5694617" cy="3500057"/>
          </a:xfrm>
          <a:custGeom>
            <a:avLst/>
            <a:gdLst/>
            <a:ahLst/>
            <a:cxnLst/>
            <a:rect r="r" b="b" t="t" l="l"/>
            <a:pathLst>
              <a:path h="3500057" w="5694617">
                <a:moveTo>
                  <a:pt x="0" y="0"/>
                </a:moveTo>
                <a:lnTo>
                  <a:pt x="5694617" y="0"/>
                </a:lnTo>
                <a:lnTo>
                  <a:pt x="5694617" y="3500057"/>
                </a:lnTo>
                <a:lnTo>
                  <a:pt x="0" y="3500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2331703" y="5839463"/>
            <a:ext cx="5694617" cy="153352"/>
          </a:xfrm>
          <a:custGeom>
            <a:avLst/>
            <a:gdLst/>
            <a:ahLst/>
            <a:cxnLst/>
            <a:rect r="r" b="b" t="t" l="l"/>
            <a:pathLst>
              <a:path h="153352" w="5694617">
                <a:moveTo>
                  <a:pt x="0" y="0"/>
                </a:moveTo>
                <a:lnTo>
                  <a:pt x="5694617" y="0"/>
                </a:lnTo>
                <a:lnTo>
                  <a:pt x="5694617" y="153353"/>
                </a:lnTo>
                <a:lnTo>
                  <a:pt x="0" y="153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2654286" y="6069082"/>
            <a:ext cx="4297680" cy="822960"/>
            <a:chOff x="0" y="0"/>
            <a:chExt cx="573024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684" r="0" b="-51685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654286" y="6033364"/>
            <a:ext cx="4297680" cy="858679"/>
            <a:chOff x="0" y="0"/>
            <a:chExt cx="5730240" cy="114490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30240" cy="1144905"/>
            </a:xfrm>
            <a:custGeom>
              <a:avLst/>
              <a:gdLst/>
              <a:ahLst/>
              <a:cxnLst/>
              <a:rect r="r" b="b" t="t" l="l"/>
              <a:pathLst>
                <a:path h="1144905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22" r="0" b="-4752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573024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D7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Production-Ready Pipeline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527280" y="6986016"/>
            <a:ext cx="5303520" cy="2103120"/>
            <a:chOff x="0" y="0"/>
            <a:chExt cx="7071360" cy="28041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071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14" t="0" r="-914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527280" y="6957441"/>
            <a:ext cx="5303520" cy="2131695"/>
            <a:chOff x="0" y="0"/>
            <a:chExt cx="7071360" cy="28422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071360" cy="2842260"/>
            </a:xfrm>
            <a:custGeom>
              <a:avLst/>
              <a:gdLst/>
              <a:ahLst/>
              <a:cxnLst/>
              <a:rect r="r" b="b" t="t" l="l"/>
              <a:pathLst>
                <a:path h="28422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42260"/>
                  </a:lnTo>
                  <a:lnTo>
                    <a:pt x="0" y="2842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0" t="0" r="-1570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7071360" cy="2880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 predict_imdb_rating() function allows real-time prediction for any new movie with minimal input.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914400" y="1368038"/>
            <a:ext cx="16484537" cy="98488"/>
          </a:xfrm>
          <a:custGeom>
            <a:avLst/>
            <a:gdLst/>
            <a:ahLst/>
            <a:cxnLst/>
            <a:rect r="r" b="b" t="t" l="l"/>
            <a:pathLst>
              <a:path h="98488" w="16484537">
                <a:moveTo>
                  <a:pt x="0" y="0"/>
                </a:moveTo>
                <a:lnTo>
                  <a:pt x="16484536" y="0"/>
                </a:lnTo>
                <a:lnTo>
                  <a:pt x="16484536" y="98488"/>
                </a:lnTo>
                <a:lnTo>
                  <a:pt x="0" y="984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97308" y="3179293"/>
            <a:ext cx="12293375" cy="328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8"/>
              </a:lnSpc>
            </a:pPr>
            <a:r>
              <a:rPr lang="en-US" sz="17348" b="true">
                <a:solidFill>
                  <a:srgbClr val="FFD700"/>
                </a:solidFill>
                <a:latin typeface="Georgia Bold"/>
                <a:ea typeface="Georgia Bold"/>
                <a:cs typeface="Georgia Bold"/>
                <a:sym typeface="Georgia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259300" y="868366"/>
            <a:ext cx="268148" cy="8544544"/>
          </a:xfrm>
          <a:custGeom>
            <a:avLst/>
            <a:gdLst/>
            <a:ahLst/>
            <a:cxnLst/>
            <a:rect r="r" b="b" t="t" l="l"/>
            <a:pathLst>
              <a:path h="8544544" w="268148">
                <a:moveTo>
                  <a:pt x="0" y="0"/>
                </a:moveTo>
                <a:lnTo>
                  <a:pt x="268148" y="0"/>
                </a:lnTo>
                <a:lnTo>
                  <a:pt x="268148" y="8544544"/>
                </a:lnTo>
                <a:lnTo>
                  <a:pt x="0" y="854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" y="868366"/>
            <a:ext cx="16484537" cy="440112"/>
          </a:xfrm>
          <a:custGeom>
            <a:avLst/>
            <a:gdLst/>
            <a:ahLst/>
            <a:cxnLst/>
            <a:rect r="r" b="b" t="t" l="l"/>
            <a:pathLst>
              <a:path h="440112" w="16484537">
                <a:moveTo>
                  <a:pt x="0" y="0"/>
                </a:moveTo>
                <a:lnTo>
                  <a:pt x="16484536" y="0"/>
                </a:lnTo>
                <a:lnTo>
                  <a:pt x="16484536" y="440112"/>
                </a:lnTo>
                <a:lnTo>
                  <a:pt x="0" y="440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" y="8974607"/>
            <a:ext cx="16484537" cy="440112"/>
          </a:xfrm>
          <a:custGeom>
            <a:avLst/>
            <a:gdLst/>
            <a:ahLst/>
            <a:cxnLst/>
            <a:rect r="r" b="b" t="t" l="l"/>
            <a:pathLst>
              <a:path h="440112" w="16484537">
                <a:moveTo>
                  <a:pt x="0" y="0"/>
                </a:moveTo>
                <a:lnTo>
                  <a:pt x="16484536" y="0"/>
                </a:lnTo>
                <a:lnTo>
                  <a:pt x="16484536" y="440113"/>
                </a:lnTo>
                <a:lnTo>
                  <a:pt x="0" y="440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0326" y="868366"/>
            <a:ext cx="268148" cy="8544544"/>
          </a:xfrm>
          <a:custGeom>
            <a:avLst/>
            <a:gdLst/>
            <a:ahLst/>
            <a:cxnLst/>
            <a:rect r="r" b="b" t="t" l="l"/>
            <a:pathLst>
              <a:path h="8544544" w="268148">
                <a:moveTo>
                  <a:pt x="0" y="0"/>
                </a:moveTo>
                <a:lnTo>
                  <a:pt x="268148" y="0"/>
                </a:lnTo>
                <a:lnTo>
                  <a:pt x="268148" y="8544544"/>
                </a:lnTo>
                <a:lnTo>
                  <a:pt x="0" y="854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DAHIrGEyZiw</dc:identifier>
  <dcterms:modified xsi:type="dcterms:W3CDTF">2011-08-01T06:04:30Z</dcterms:modified>
  <cp:revision>1</cp:revision>
  <dc:title>IMDb Rating Prediction.pptx</dc:title>
</cp:coreProperties>
</file>